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on the first slide on purpose. Four tools, 2.37M euros, down to two tools and 1.76M. The 26% is the headline but I lead the room to the range immediately, because a single round number on a modelled negotiation invites the wrong question. Jira stays because Engineering will not move and should not. Asana becomes the standard for everyone else. The flex-down clause is the part I care most about, because it stops this problem recurring.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situation, not the fix. 2.37M euros across four tools that do broadly the same job. Three problems underneath: duplication, shelf-ware, and the fact that nobody has ever bought this as one enterprise. Microsoft Planner is free with our M365 licence so I leave it out of scope. The colour coding carries through the whole deck: dark grey is keep, blue is the tool we standardise on, red is retire.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lenses on the same waste. Left: bought versus used, 390 idle seats. Right: cost per active user, the number that actually matters, because a cheap tool nobody uses is not cheap. Trello and Monday.com are worst on both. Not a coincidence, it is the case for retiring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judgement shows. The scorecard has Asana and Jira tied at exactly 4.00. If I just followed the number I would standardise on one and break the other group. Instead I read why each got to 4.00: Jira on dev-specific strengths, Asana on even breadth. That is the argument for keep-one-plus-standardise rather than pick-one.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waterfall reconciles current spend to end state through five moves, and it does not double count. The migrated seats are already priced at the negotiated rate, so the rate cut only applies to retained seats. That discipline is the difference between my number and the brief's, which double-counted unused licences against retired vendors. I lead any interview with the conservative 540K because it needs the least defending and it matches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stop at the recommendation. This slide is why timing is the real work. Monday.com lapsing a month before the Asana renewal is a gift, because I get to demonstrate the walk-away before I sit down with Asana. If the order were reversed I would be asking Asana to expand my commitment before showing any willingness to cut, a much weaker position. Sequence is leverage.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other repos do not have. Concrete target, opening and walk-away, all anchored to list price. A real BATNA in Monday.com, which makes the walk-away credible. A concession ladder where every give is traded for a take, led by the gives that cost me little and that Asana values. And the flex-down clause, the one I spend my last leverage on, because it is governance not money. I am explicit that the rate is modelled, not quoted.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where a CFO can check my working and where I put the honesty. The reconciliation table, the assumptions, and the three numbers I trust least, ranked. Leading with limitations rather than hiding them is what makes the rest credible. The Jira blind spot is the big one: 44% of spend with no usage data, so I claim nothing from it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3C"/>
        </a:solidFill>
      </p:bgPr>
    </p:bg>
    <p:spTree>
      <p:nvGrpSpPr>
        <p:cNvPr id="1" name=""/>
        <p:cNvGrpSpPr/>
        <p:nvPr/>
      </p:nvGrpSpPr>
      <p:grpSpPr>
        <a:xfrm>
          <a:off x="0" y="0"/>
          <a:ext cx="0" cy="0"/>
          <a:chOff x="0" y="0"/>
          <a:chExt cx="0" cy="0"/>
        </a:xfrm>
      </p:grpSpPr>
      <p:sp>
        <p:nvSpPr>
          <p:cNvPr id="2" name="Text 0"/>
          <p:cNvSpPr/>
          <p:nvPr/>
        </p:nvSpPr>
        <p:spPr>
          <a:xfrm>
            <a:off x="640080" y="1371600"/>
            <a:ext cx="10972800" cy="365760"/>
          </a:xfrm>
          <a:prstGeom prst="rect">
            <a:avLst/>
          </a:prstGeom>
          <a:noFill/>
          <a:ln/>
        </p:spPr>
        <p:txBody>
          <a:bodyPr wrap="square" rtlCol="0" anchor="ctr"/>
          <a:lstStyle/>
          <a:p>
            <a:pPr indent="0" marL="0">
              <a:buNone/>
            </a:pPr>
            <a:r>
              <a:rPr lang="en-US" sz="1300" b="1" spc="300" kern="0" dirty="0">
                <a:solidFill>
                  <a:srgbClr val="9FB4D8"/>
                </a:solidFill>
                <a:latin typeface="Arial" pitchFamily="34" charset="0"/>
                <a:ea typeface="Arial" pitchFamily="34" charset="-122"/>
                <a:cs typeface="Arial" pitchFamily="34" charset="-120"/>
              </a:rPr>
              <a:t>RECOMMENDATION</a:t>
            </a:r>
            <a:endParaRPr lang="en-US" sz="1300" dirty="0"/>
          </a:p>
        </p:txBody>
      </p:sp>
      <p:sp>
        <p:nvSpPr>
          <p:cNvPr id="3" name="Text 1"/>
          <p:cNvSpPr/>
          <p:nvPr/>
        </p:nvSpPr>
        <p:spPr>
          <a:xfrm>
            <a:off x="640080" y="1828800"/>
            <a:ext cx="10881360" cy="164592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Arial" pitchFamily="34" charset="0"/>
                <a:ea typeface="Arial" pitchFamily="34" charset="-122"/>
                <a:cs typeface="Arial" pitchFamily="34" charset="-120"/>
              </a:rPr>
              <a:t>Consolidate four PM tools to two.</a:t>
            </a:r>
            <a:endParaRPr lang="en-US" sz="3400" dirty="0"/>
          </a:p>
          <a:p>
            <a:pPr indent="0" marL="0">
              <a:lnSpc>
                <a:spcPct val="105000"/>
              </a:lnSpc>
              <a:buNone/>
            </a:pPr>
            <a:r>
              <a:rPr lang="en-US" sz="3400" b="1" dirty="0">
                <a:solidFill>
                  <a:srgbClr val="FFFFFF"/>
                </a:solidFill>
                <a:latin typeface="Arial" pitchFamily="34" charset="0"/>
                <a:ea typeface="Arial" pitchFamily="34" charset="-122"/>
                <a:cs typeface="Arial" pitchFamily="34" charset="-120"/>
              </a:rPr>
              <a:t>Save about €610K a year, 26% of spend.</a:t>
            </a:r>
            <a:endParaRPr lang="en-US" sz="3400" dirty="0"/>
          </a:p>
        </p:txBody>
      </p:sp>
      <p:sp>
        <p:nvSpPr>
          <p:cNvPr id="4" name="Text 2"/>
          <p:cNvSpPr/>
          <p:nvPr/>
        </p:nvSpPr>
        <p:spPr>
          <a:xfrm>
            <a:off x="640080" y="3794760"/>
            <a:ext cx="10332720" cy="1097280"/>
          </a:xfrm>
          <a:prstGeom prst="rect">
            <a:avLst/>
          </a:prstGeom>
          <a:noFill/>
          <a:ln/>
        </p:spPr>
        <p:txBody>
          <a:bodyPr wrap="square" lIns="0" tIns="0" rIns="0" bIns="0" rtlCol="0" anchor="ctr"/>
          <a:lstStyle/>
          <a:p>
            <a:pPr indent="0" marL="0">
              <a:lnSpc>
                <a:spcPct val="125000"/>
              </a:lnSpc>
              <a:buNone/>
            </a:pPr>
            <a:r>
              <a:rPr lang="en-US" sz="1500" dirty="0">
                <a:solidFill>
                  <a:srgbClr val="D6E0F0"/>
                </a:solidFill>
                <a:latin typeface="Arial" pitchFamily="34" charset="0"/>
                <a:ea typeface="Arial" pitchFamily="34" charset="-122"/>
                <a:cs typeface="Arial" pitchFamily="34" charset="-120"/>
              </a:rPr>
              <a:t>Keep Jira for Engineering. Standardise everyone else onto Asana. Retire Monday.com and Trello. </a:t>
            </a:r>
            <a:pPr indent="0" marL="0">
              <a:lnSpc>
                <a:spcPct val="125000"/>
              </a:lnSpc>
              <a:buNone/>
            </a:pPr>
            <a:r>
              <a:rPr lang="en-US" sz="1500" dirty="0">
                <a:solidFill>
                  <a:srgbClr val="D6E0F0"/>
                </a:solidFill>
                <a:latin typeface="Arial" pitchFamily="34" charset="0"/>
                <a:ea typeface="Arial" pitchFamily="34" charset="-122"/>
                <a:cs typeface="Arial" pitchFamily="34" charset="-120"/>
              </a:rPr>
              <a:t>Fix the rate and the terms at the Asana renewal, and put a flex-down clause in the contract so idle licences cannot rebuild.</a:t>
            </a:r>
            <a:endParaRPr lang="en-US" sz="1500" dirty="0"/>
          </a:p>
        </p:txBody>
      </p:sp>
      <p:sp>
        <p:nvSpPr>
          <p:cNvPr id="5" name="Text 3"/>
          <p:cNvSpPr/>
          <p:nvPr/>
        </p:nvSpPr>
        <p:spPr>
          <a:xfrm>
            <a:off x="640080" y="5212080"/>
            <a:ext cx="10881360" cy="457200"/>
          </a:xfrm>
          <a:prstGeom prst="rect">
            <a:avLst/>
          </a:prstGeom>
          <a:noFill/>
          <a:ln/>
        </p:spPr>
        <p:txBody>
          <a:bodyPr wrap="square" lIns="0" tIns="0" rIns="0" bIns="0" rtlCol="0" anchor="ctr"/>
          <a:lstStyle/>
          <a:p>
            <a:pPr indent="0" marL="0">
              <a:buNone/>
            </a:pPr>
            <a:r>
              <a:rPr lang="en-US" sz="1200" i="1" dirty="0">
                <a:solidFill>
                  <a:srgbClr val="8A9BAB"/>
                </a:solidFill>
                <a:latin typeface="Arial" pitchFamily="34" charset="0"/>
                <a:ea typeface="Arial" pitchFamily="34" charset="-122"/>
                <a:cs typeface="Arial" pitchFamily="34" charset="-120"/>
              </a:rPr>
              <a:t>Range: €540K (conservative) to €750K (optimistic).  The number rests on a modelled Asana rate, not a quote.</a:t>
            </a:r>
            <a:endParaRPr lang="en-US" sz="1200" dirty="0"/>
          </a:p>
        </p:txBody>
      </p:sp>
      <p:sp>
        <p:nvSpPr>
          <p:cNvPr id="6" name="Text 4"/>
          <p:cNvSpPr/>
          <p:nvPr/>
        </p:nvSpPr>
        <p:spPr>
          <a:xfrm>
            <a:off x="640080" y="6126480"/>
            <a:ext cx="7315200" cy="274320"/>
          </a:xfrm>
          <a:prstGeom prst="rect">
            <a:avLst/>
          </a:prstGeom>
          <a:noFill/>
          <a:ln/>
        </p:spPr>
        <p:txBody>
          <a:bodyPr wrap="square" lIns="0" tIns="0" rIns="0" bIns="0" rtlCol="0" anchor="ctr"/>
          <a:lstStyle/>
          <a:p>
            <a:pPr indent="0" marL="0">
              <a:buNone/>
            </a:pPr>
            <a:r>
              <a:rPr lang="en-US" sz="1100" dirty="0">
                <a:solidFill>
                  <a:srgbClr val="9FB4D8"/>
                </a:solidFill>
                <a:latin typeface="Arial" pitchFamily="34" charset="0"/>
                <a:ea typeface="Arial" pitchFamily="34" charset="-122"/>
                <a:cs typeface="Arial" pitchFamily="34" charset="-120"/>
              </a:rPr>
              <a:t>Procurement case study  ·  Shruti Morab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2600" b="1" dirty="0">
                <a:solidFill>
                  <a:srgbClr val="1A2B3C"/>
                </a:solidFill>
                <a:latin typeface="Arial" pitchFamily="34" charset="0"/>
                <a:ea typeface="Arial" pitchFamily="34" charset="-122"/>
                <a:cs typeface="Arial" pitchFamily="34" charset="-120"/>
              </a:rPr>
              <a:t>One job, four tools, no single buyer</a:t>
            </a:r>
            <a:endParaRPr lang="en-US" sz="2600" dirty="0"/>
          </a:p>
        </p:txBody>
      </p:sp>
      <p:pic>
        <p:nvPicPr>
          <p:cNvPr id="4" name="Image 0" descr="01_spend_by_vendor.png">    </p:cNvPr>
          <p:cNvPicPr>
            <a:picLocks noChangeAspect="1"/>
          </p:cNvPicPr>
          <p:nvPr/>
        </p:nvPicPr>
        <p:blipFill>
          <a:blip r:embed="rId1"/>
          <a:stretch>
            <a:fillRect/>
          </a:stretch>
        </p:blipFill>
        <p:spPr>
          <a:xfrm>
            <a:off x="457200" y="1737360"/>
            <a:ext cx="6309360" cy="3611880"/>
          </a:xfrm>
          <a:prstGeom prst="rect">
            <a:avLst/>
          </a:prstGeom>
        </p:spPr>
      </p:pic>
      <p:sp>
        <p:nvSpPr>
          <p:cNvPr id="5" name="Text 2"/>
          <p:cNvSpPr/>
          <p:nvPr/>
        </p:nvSpPr>
        <p:spPr>
          <a:xfrm>
            <a:off x="7132320" y="1965960"/>
            <a:ext cx="4572000" cy="320040"/>
          </a:xfrm>
          <a:prstGeom prst="rect">
            <a:avLst/>
          </a:prstGeom>
          <a:noFill/>
          <a:ln/>
        </p:spPr>
        <p:txBody>
          <a:bodyPr wrap="square" lIns="0" tIns="0" rIns="0" bIns="0" rtlCol="0" anchor="ctr"/>
          <a:lstStyle/>
          <a:p>
            <a:pPr indent="0" marL="0">
              <a:buNone/>
            </a:pPr>
            <a:r>
              <a:rPr lang="en-US" sz="1500" b="1" dirty="0">
                <a:solidFill>
                  <a:srgbClr val="1A2B3C"/>
                </a:solidFill>
                <a:latin typeface="Arial" pitchFamily="34" charset="0"/>
                <a:ea typeface="Arial" pitchFamily="34" charset="-122"/>
                <a:cs typeface="Arial" pitchFamily="34" charset="-120"/>
              </a:rPr>
              <a:t>Duplication</a:t>
            </a:r>
            <a:endParaRPr lang="en-US" sz="1500" dirty="0"/>
          </a:p>
        </p:txBody>
      </p:sp>
      <p:sp>
        <p:nvSpPr>
          <p:cNvPr id="6" name="Text 3"/>
          <p:cNvSpPr/>
          <p:nvPr/>
        </p:nvSpPr>
        <p:spPr>
          <a:xfrm>
            <a:off x="7132320" y="2313432"/>
            <a:ext cx="4572000" cy="822960"/>
          </a:xfrm>
          <a:prstGeom prst="rect">
            <a:avLst/>
          </a:prstGeom>
          <a:noFill/>
          <a:ln/>
        </p:spPr>
        <p:txBody>
          <a:bodyPr wrap="square" lIns="0" tIns="0" rIns="0" bIns="0" rtlCol="0" anchor="ctr"/>
          <a:lstStyle/>
          <a:p>
            <a:pPr indent="0" marL="0">
              <a:lnSpc>
                <a:spcPct val="115000"/>
              </a:lnSpc>
              <a:buNone/>
            </a:pPr>
            <a:r>
              <a:rPr lang="en-US" sz="1250" dirty="0">
                <a:solidFill>
                  <a:srgbClr val="3A4A5A"/>
                </a:solidFill>
                <a:latin typeface="Arial" pitchFamily="34" charset="0"/>
                <a:ea typeface="Arial" pitchFamily="34" charset="-122"/>
                <a:cs typeface="Arial" pitchFamily="34" charset="-120"/>
              </a:rPr>
              <a:t>~180 people hold licences on two or more platforms. We pay twice for the same person.</a:t>
            </a:r>
            <a:endParaRPr lang="en-US" sz="1250" dirty="0"/>
          </a:p>
        </p:txBody>
      </p:sp>
      <p:sp>
        <p:nvSpPr>
          <p:cNvPr id="7" name="Text 4"/>
          <p:cNvSpPr/>
          <p:nvPr/>
        </p:nvSpPr>
        <p:spPr>
          <a:xfrm>
            <a:off x="7132320" y="3108960"/>
            <a:ext cx="4572000" cy="320040"/>
          </a:xfrm>
          <a:prstGeom prst="rect">
            <a:avLst/>
          </a:prstGeom>
          <a:noFill/>
          <a:ln/>
        </p:spPr>
        <p:txBody>
          <a:bodyPr wrap="square" lIns="0" tIns="0" rIns="0" bIns="0" rtlCol="0" anchor="ctr"/>
          <a:lstStyle/>
          <a:p>
            <a:pPr indent="0" marL="0">
              <a:buNone/>
            </a:pPr>
            <a:r>
              <a:rPr lang="en-US" sz="1500" b="1" dirty="0">
                <a:solidFill>
                  <a:srgbClr val="1A2B3C"/>
                </a:solidFill>
                <a:latin typeface="Arial" pitchFamily="34" charset="0"/>
                <a:ea typeface="Arial" pitchFamily="34" charset="-122"/>
                <a:cs typeface="Arial" pitchFamily="34" charset="-120"/>
              </a:rPr>
              <a:t>Low utilisation</a:t>
            </a:r>
            <a:endParaRPr lang="en-US" sz="1500" dirty="0"/>
          </a:p>
        </p:txBody>
      </p:sp>
      <p:sp>
        <p:nvSpPr>
          <p:cNvPr id="8" name="Text 5"/>
          <p:cNvSpPr/>
          <p:nvPr/>
        </p:nvSpPr>
        <p:spPr>
          <a:xfrm>
            <a:off x="7132320" y="3456432"/>
            <a:ext cx="4572000" cy="822960"/>
          </a:xfrm>
          <a:prstGeom prst="rect">
            <a:avLst/>
          </a:prstGeom>
          <a:noFill/>
          <a:ln/>
        </p:spPr>
        <p:txBody>
          <a:bodyPr wrap="square" lIns="0" tIns="0" rIns="0" bIns="0" rtlCol="0" anchor="ctr"/>
          <a:lstStyle/>
          <a:p>
            <a:pPr indent="0" marL="0">
              <a:lnSpc>
                <a:spcPct val="115000"/>
              </a:lnSpc>
              <a:buNone/>
            </a:pPr>
            <a:r>
              <a:rPr lang="en-US" sz="1250" dirty="0">
                <a:solidFill>
                  <a:srgbClr val="3A4A5A"/>
                </a:solidFill>
                <a:latin typeface="Arial" pitchFamily="34" charset="0"/>
                <a:ea typeface="Arial" pitchFamily="34" charset="-122"/>
                <a:cs typeface="Arial" pitchFamily="34" charset="-120"/>
              </a:rPr>
              <a:t>Asana 510 of 650 seats used. Monday.com 230 of 350. Trello 120 of 250. 390 idle seats.</a:t>
            </a:r>
            <a:endParaRPr lang="en-US" sz="1250" dirty="0"/>
          </a:p>
        </p:txBody>
      </p:sp>
      <p:sp>
        <p:nvSpPr>
          <p:cNvPr id="9" name="Text 6"/>
          <p:cNvSpPr/>
          <p:nvPr/>
        </p:nvSpPr>
        <p:spPr>
          <a:xfrm>
            <a:off x="7132320" y="4251960"/>
            <a:ext cx="4572000" cy="320040"/>
          </a:xfrm>
          <a:prstGeom prst="rect">
            <a:avLst/>
          </a:prstGeom>
          <a:noFill/>
          <a:ln/>
        </p:spPr>
        <p:txBody>
          <a:bodyPr wrap="square" lIns="0" tIns="0" rIns="0" bIns="0" rtlCol="0" anchor="ctr"/>
          <a:lstStyle/>
          <a:p>
            <a:pPr indent="0" marL="0">
              <a:buNone/>
            </a:pPr>
            <a:r>
              <a:rPr lang="en-US" sz="1500" b="1" dirty="0">
                <a:solidFill>
                  <a:srgbClr val="1A2B3C"/>
                </a:solidFill>
                <a:latin typeface="Arial" pitchFamily="34" charset="0"/>
                <a:ea typeface="Arial" pitchFamily="34" charset="-122"/>
                <a:cs typeface="Arial" pitchFamily="34" charset="-120"/>
              </a:rPr>
              <a:t>No leverage</a:t>
            </a:r>
            <a:endParaRPr lang="en-US" sz="1500" dirty="0"/>
          </a:p>
        </p:txBody>
      </p:sp>
      <p:sp>
        <p:nvSpPr>
          <p:cNvPr id="10" name="Text 7"/>
          <p:cNvSpPr/>
          <p:nvPr/>
        </p:nvSpPr>
        <p:spPr>
          <a:xfrm>
            <a:off x="7132320" y="4599432"/>
            <a:ext cx="4572000" cy="822960"/>
          </a:xfrm>
          <a:prstGeom prst="rect">
            <a:avLst/>
          </a:prstGeom>
          <a:noFill/>
          <a:ln/>
        </p:spPr>
        <p:txBody>
          <a:bodyPr wrap="square" lIns="0" tIns="0" rIns="0" bIns="0" rtlCol="0" anchor="ctr"/>
          <a:lstStyle/>
          <a:p>
            <a:pPr indent="0" marL="0">
              <a:lnSpc>
                <a:spcPct val="115000"/>
              </a:lnSpc>
              <a:buNone/>
            </a:pPr>
            <a:r>
              <a:rPr lang="en-US" sz="1250" dirty="0">
                <a:solidFill>
                  <a:srgbClr val="3A4A5A"/>
                </a:solidFill>
                <a:latin typeface="Arial" pitchFamily="34" charset="0"/>
                <a:ea typeface="Arial" pitchFamily="34" charset="-122"/>
                <a:cs typeface="Arial" pitchFamily="34" charset="-120"/>
              </a:rPr>
              <a:t>Every contract signed separately by a different team. Meridian has never negotiated as one enterprise buyer.</a:t>
            </a:r>
            <a:endParaRPr lang="en-US" sz="12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BAB"/>
                </a:solidFill>
                <a:latin typeface="Arial" pitchFamily="34" charset="0"/>
                <a:ea typeface="Arial" pitchFamily="34" charset="-122"/>
                <a:cs typeface="Arial" pitchFamily="34" charset="-120"/>
              </a:rPr>
              <a:t>Meridian Mobility  ·  SaaS consolidation</a:t>
            </a:r>
            <a:endParaRPr lang="en-US" sz="900" dirty="0"/>
          </a:p>
        </p:txBody>
      </p:sp>
      <p:sp>
        <p:nvSpPr>
          <p:cNvPr id="12" name="Text 9"/>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A9BA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WHERE THE MONEY LEAKS</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2600" b="1" dirty="0">
                <a:solidFill>
                  <a:srgbClr val="1A2B3C"/>
                </a:solidFill>
                <a:latin typeface="Arial" pitchFamily="34" charset="0"/>
                <a:ea typeface="Arial" pitchFamily="34" charset="-122"/>
                <a:cs typeface="Arial" pitchFamily="34" charset="-120"/>
              </a:rPr>
              <a:t>The tools we pay most for, per real user, are the ones we retire</a:t>
            </a:r>
            <a:endParaRPr lang="en-US" sz="2600" dirty="0"/>
          </a:p>
        </p:txBody>
      </p:sp>
      <p:pic>
        <p:nvPicPr>
          <p:cNvPr id="4" name="Image 0" descr="03_utilisation_gap.png">    </p:cNvPr>
          <p:cNvPicPr>
            <a:picLocks noChangeAspect="1"/>
          </p:cNvPicPr>
          <p:nvPr/>
        </p:nvPicPr>
        <p:blipFill>
          <a:blip r:embed="rId1"/>
          <a:stretch>
            <a:fillRect/>
          </a:stretch>
        </p:blipFill>
        <p:spPr>
          <a:xfrm>
            <a:off x="457200" y="1828800"/>
            <a:ext cx="5760720" cy="3383280"/>
          </a:xfrm>
          <a:prstGeom prst="rect">
            <a:avLst/>
          </a:prstGeom>
        </p:spPr>
      </p:pic>
      <p:pic>
        <p:nvPicPr>
          <p:cNvPr id="5" name="Image 1" descr="02_cost_per_active_user.png">    </p:cNvPr>
          <p:cNvPicPr>
            <a:picLocks noChangeAspect="1"/>
          </p:cNvPicPr>
          <p:nvPr/>
        </p:nvPicPr>
        <p:blipFill>
          <a:blip r:embed="rId2"/>
          <a:stretch>
            <a:fillRect/>
          </a:stretch>
        </p:blipFill>
        <p:spPr>
          <a:xfrm>
            <a:off x="6309360" y="1828800"/>
            <a:ext cx="5486400" cy="3383280"/>
          </a:xfrm>
          <a:prstGeom prst="rect">
            <a:avLst/>
          </a:prstGeom>
        </p:spPr>
      </p:pic>
      <p:sp>
        <p:nvSpPr>
          <p:cNvPr id="6" name="Text 2"/>
          <p:cNvSpPr/>
          <p:nvPr/>
        </p:nvSpPr>
        <p:spPr>
          <a:xfrm>
            <a:off x="548640" y="5440680"/>
            <a:ext cx="11064240" cy="640080"/>
          </a:xfrm>
          <a:prstGeom prst="rect">
            <a:avLst/>
          </a:prstGeom>
          <a:noFill/>
          <a:ln/>
        </p:spPr>
        <p:txBody>
          <a:bodyPr wrap="square" lIns="0" tIns="0" rIns="0" bIns="0" rtlCol="0" anchor="ctr"/>
          <a:lstStyle/>
          <a:p>
            <a:pPr indent="0" marL="0">
              <a:lnSpc>
                <a:spcPct val="115000"/>
              </a:lnSpc>
              <a:buNone/>
            </a:pPr>
            <a:r>
              <a:rPr lang="en-US" sz="1300" i="1" dirty="0">
                <a:solidFill>
                  <a:srgbClr val="3A4A5A"/>
                </a:solidFill>
                <a:latin typeface="Arial" pitchFamily="34" charset="0"/>
                <a:ea typeface="Arial" pitchFamily="34" charset="-122"/>
                <a:cs typeface="Arial" pitchFamily="34" charset="-120"/>
              </a:rPr>
              <a:t>Trello costs €1,000 per active user and Monday.com €1,826. Retiring them and rehoming those users onto the standard tool removes the waste without removing the capability.</a:t>
            </a:r>
            <a:endParaRPr lang="en-US" sz="1300" dirty="0"/>
          </a:p>
        </p:txBody>
      </p:sp>
      <p:sp>
        <p:nvSpPr>
          <p:cNvPr id="7" name="Text 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BAB"/>
                </a:solidFill>
                <a:latin typeface="Arial" pitchFamily="34" charset="0"/>
                <a:ea typeface="Arial" pitchFamily="34" charset="-122"/>
                <a:cs typeface="Arial" pitchFamily="34" charset="-120"/>
              </a:rPr>
              <a:t>Meridian Mobility  ·  SaaS consolidation</a:t>
            </a:r>
            <a:endParaRPr lang="en-US" sz="900" dirty="0"/>
          </a:p>
        </p:txBody>
      </p:sp>
      <p:sp>
        <p:nvSpPr>
          <p:cNvPr id="8" name="Text 4"/>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A9BA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THE RECOMMENDATION</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2600" b="1" dirty="0">
                <a:solidFill>
                  <a:srgbClr val="1A2B3C"/>
                </a:solidFill>
                <a:latin typeface="Arial" pitchFamily="34" charset="0"/>
                <a:ea typeface="Arial" pitchFamily="34" charset="-122"/>
                <a:cs typeface="Arial" pitchFamily="34" charset="-120"/>
              </a:rPr>
              <a:t>Keep Jira for Engineering. Standardise the rest on Asana.</a:t>
            </a:r>
            <a:endParaRPr lang="en-US" sz="2600" dirty="0"/>
          </a:p>
        </p:txBody>
      </p:sp>
      <p:sp>
        <p:nvSpPr>
          <p:cNvPr id="4" name="Shape 2"/>
          <p:cNvSpPr/>
          <p:nvPr/>
        </p:nvSpPr>
        <p:spPr>
          <a:xfrm>
            <a:off x="548640" y="1783080"/>
            <a:ext cx="2697480" cy="2011680"/>
          </a:xfrm>
          <a:prstGeom prst="roundRect">
            <a:avLst>
              <a:gd name="adj" fmla="val 3636"/>
            </a:avLst>
          </a:prstGeom>
          <a:solidFill>
            <a:srgbClr val="EDF1F6"/>
          </a:solidFill>
          <a:ln/>
        </p:spPr>
      </p:sp>
      <p:sp>
        <p:nvSpPr>
          <p:cNvPr id="5" name="Text 3"/>
          <p:cNvSpPr/>
          <p:nvPr/>
        </p:nvSpPr>
        <p:spPr>
          <a:xfrm>
            <a:off x="731520" y="1965960"/>
            <a:ext cx="2331720" cy="365760"/>
          </a:xfrm>
          <a:prstGeom prst="rect">
            <a:avLst/>
          </a:prstGeom>
          <a:noFill/>
          <a:ln/>
        </p:spPr>
        <p:txBody>
          <a:bodyPr wrap="square" lIns="0" tIns="0" rIns="0" bIns="0" rtlCol="0" anchor="ctr"/>
          <a:lstStyle/>
          <a:p>
            <a:pPr indent="0" marL="0">
              <a:buNone/>
            </a:pPr>
            <a:r>
              <a:rPr lang="en-US" sz="1700" b="1" dirty="0">
                <a:solidFill>
                  <a:srgbClr val="1A2B3C"/>
                </a:solidFill>
                <a:latin typeface="Arial" pitchFamily="34" charset="0"/>
                <a:ea typeface="Arial" pitchFamily="34" charset="-122"/>
                <a:cs typeface="Arial" pitchFamily="34" charset="-120"/>
              </a:rPr>
              <a:t>Jira</a:t>
            </a:r>
            <a:endParaRPr lang="en-US" sz="1700" dirty="0"/>
          </a:p>
        </p:txBody>
      </p:sp>
      <p:sp>
        <p:nvSpPr>
          <p:cNvPr id="6" name="Text 4"/>
          <p:cNvSpPr/>
          <p:nvPr/>
        </p:nvSpPr>
        <p:spPr>
          <a:xfrm>
            <a:off x="731520" y="2377440"/>
            <a:ext cx="2331720" cy="274320"/>
          </a:xfrm>
          <a:prstGeom prst="rect">
            <a:avLst/>
          </a:prstGeom>
          <a:noFill/>
          <a:ln/>
        </p:spPr>
        <p:txBody>
          <a:bodyPr wrap="square" lIns="0" tIns="0" rIns="0" bIns="0" rtlCol="0" anchor="ctr"/>
          <a:lstStyle/>
          <a:p>
            <a:pPr indent="0" marL="0">
              <a:buNone/>
            </a:pPr>
            <a:r>
              <a:rPr lang="en-US" sz="1200" b="1" spc="200" kern="0" dirty="0">
                <a:solidFill>
                  <a:srgbClr val="3A4A5A"/>
                </a:solidFill>
                <a:latin typeface="Arial" pitchFamily="34" charset="0"/>
                <a:ea typeface="Arial" pitchFamily="34" charset="-122"/>
                <a:cs typeface="Arial" pitchFamily="34" charset="-120"/>
              </a:rPr>
              <a:t>KEEP</a:t>
            </a:r>
            <a:endParaRPr lang="en-US" sz="1200" dirty="0"/>
          </a:p>
        </p:txBody>
      </p:sp>
      <p:sp>
        <p:nvSpPr>
          <p:cNvPr id="7" name="Text 5"/>
          <p:cNvSpPr/>
          <p:nvPr/>
        </p:nvSpPr>
        <p:spPr>
          <a:xfrm>
            <a:off x="731520" y="2743200"/>
            <a:ext cx="2331720" cy="960120"/>
          </a:xfrm>
          <a:prstGeom prst="rect">
            <a:avLst/>
          </a:prstGeom>
          <a:noFill/>
          <a:ln/>
        </p:spPr>
        <p:txBody>
          <a:bodyPr wrap="square" lIns="0" tIns="0" rIns="0" bIns="0" rtlCol="0" anchor="ctr"/>
          <a:lstStyle/>
          <a:p>
            <a:pPr indent="0" marL="0">
              <a:lnSpc>
                <a:spcPct val="110000"/>
              </a:lnSpc>
              <a:buNone/>
            </a:pPr>
            <a:r>
              <a:rPr lang="en-US" sz="1100" dirty="0">
                <a:solidFill>
                  <a:srgbClr val="3A4A5A"/>
                </a:solidFill>
                <a:latin typeface="Arial" pitchFamily="34" charset="0"/>
                <a:ea typeface="Arial" pitchFamily="34" charset="-122"/>
                <a:cs typeface="Arial" pitchFamily="34" charset="-120"/>
              </a:rPr>
              <a:t>Engineering only. Toolchain built around it. They will not move.</a:t>
            </a:r>
            <a:endParaRPr lang="en-US" sz="1100" dirty="0"/>
          </a:p>
        </p:txBody>
      </p:sp>
      <p:sp>
        <p:nvSpPr>
          <p:cNvPr id="8" name="Shape 6"/>
          <p:cNvSpPr/>
          <p:nvPr/>
        </p:nvSpPr>
        <p:spPr>
          <a:xfrm>
            <a:off x="3383280" y="1783080"/>
            <a:ext cx="2697480" cy="2011680"/>
          </a:xfrm>
          <a:prstGeom prst="roundRect">
            <a:avLst>
              <a:gd name="adj" fmla="val 3636"/>
            </a:avLst>
          </a:prstGeom>
          <a:solidFill>
            <a:srgbClr val="EDF1F6"/>
          </a:solidFill>
          <a:ln/>
        </p:spPr>
      </p:sp>
      <p:sp>
        <p:nvSpPr>
          <p:cNvPr id="9" name="Text 7"/>
          <p:cNvSpPr/>
          <p:nvPr/>
        </p:nvSpPr>
        <p:spPr>
          <a:xfrm>
            <a:off x="3566160" y="1965960"/>
            <a:ext cx="2331720" cy="365760"/>
          </a:xfrm>
          <a:prstGeom prst="rect">
            <a:avLst/>
          </a:prstGeom>
          <a:noFill/>
          <a:ln/>
        </p:spPr>
        <p:txBody>
          <a:bodyPr wrap="square" lIns="0" tIns="0" rIns="0" bIns="0" rtlCol="0" anchor="ctr"/>
          <a:lstStyle/>
          <a:p>
            <a:pPr indent="0" marL="0">
              <a:buNone/>
            </a:pPr>
            <a:r>
              <a:rPr lang="en-US" sz="1700" b="1" dirty="0">
                <a:solidFill>
                  <a:srgbClr val="1A2B3C"/>
                </a:solidFill>
                <a:latin typeface="Arial" pitchFamily="34" charset="0"/>
                <a:ea typeface="Arial" pitchFamily="34" charset="-122"/>
                <a:cs typeface="Arial" pitchFamily="34" charset="-120"/>
              </a:rPr>
              <a:t>Asana</a:t>
            </a:r>
            <a:endParaRPr lang="en-US" sz="1700" dirty="0"/>
          </a:p>
        </p:txBody>
      </p:sp>
      <p:sp>
        <p:nvSpPr>
          <p:cNvPr id="10" name="Text 8"/>
          <p:cNvSpPr/>
          <p:nvPr/>
        </p:nvSpPr>
        <p:spPr>
          <a:xfrm>
            <a:off x="3566160" y="2377440"/>
            <a:ext cx="2331720" cy="274320"/>
          </a:xfrm>
          <a:prstGeom prst="rect">
            <a:avLst/>
          </a:prstGeom>
          <a:noFill/>
          <a:ln/>
        </p:spPr>
        <p:txBody>
          <a:bodyPr wrap="square" lIns="0" tIns="0" rIns="0" bIns="0"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STANDARD</a:t>
            </a:r>
            <a:endParaRPr lang="en-US" sz="1200" dirty="0"/>
          </a:p>
        </p:txBody>
      </p:sp>
      <p:sp>
        <p:nvSpPr>
          <p:cNvPr id="11" name="Text 9"/>
          <p:cNvSpPr/>
          <p:nvPr/>
        </p:nvSpPr>
        <p:spPr>
          <a:xfrm>
            <a:off x="3566160" y="2743200"/>
            <a:ext cx="2331720" cy="960120"/>
          </a:xfrm>
          <a:prstGeom prst="rect">
            <a:avLst/>
          </a:prstGeom>
          <a:noFill/>
          <a:ln/>
        </p:spPr>
        <p:txBody>
          <a:bodyPr wrap="square" lIns="0" tIns="0" rIns="0" bIns="0" rtlCol="0" anchor="ctr"/>
          <a:lstStyle/>
          <a:p>
            <a:pPr indent="0" marL="0">
              <a:lnSpc>
                <a:spcPct val="110000"/>
              </a:lnSpc>
              <a:buNone/>
            </a:pPr>
            <a:r>
              <a:rPr lang="en-US" sz="1100" dirty="0">
                <a:solidFill>
                  <a:srgbClr val="3A4A5A"/>
                </a:solidFill>
                <a:latin typeface="Arial" pitchFamily="34" charset="0"/>
                <a:ea typeface="Arial" pitchFamily="34" charset="-122"/>
                <a:cs typeface="Arial" pitchFamily="34" charset="-120"/>
              </a:rPr>
              <a:t>New standard for Product, Marketing, HR, Operations. Largest active base.</a:t>
            </a:r>
            <a:endParaRPr lang="en-US" sz="1100" dirty="0"/>
          </a:p>
        </p:txBody>
      </p:sp>
      <p:sp>
        <p:nvSpPr>
          <p:cNvPr id="12" name="Shape 10"/>
          <p:cNvSpPr/>
          <p:nvPr/>
        </p:nvSpPr>
        <p:spPr>
          <a:xfrm>
            <a:off x="6217920" y="1783080"/>
            <a:ext cx="2697480" cy="2011680"/>
          </a:xfrm>
          <a:prstGeom prst="roundRect">
            <a:avLst>
              <a:gd name="adj" fmla="val 3636"/>
            </a:avLst>
          </a:prstGeom>
          <a:solidFill>
            <a:srgbClr val="EDF1F6"/>
          </a:solidFill>
          <a:ln/>
        </p:spPr>
      </p:sp>
      <p:sp>
        <p:nvSpPr>
          <p:cNvPr id="13" name="Text 11"/>
          <p:cNvSpPr/>
          <p:nvPr/>
        </p:nvSpPr>
        <p:spPr>
          <a:xfrm>
            <a:off x="6400800" y="1965960"/>
            <a:ext cx="2331720" cy="365760"/>
          </a:xfrm>
          <a:prstGeom prst="rect">
            <a:avLst/>
          </a:prstGeom>
          <a:noFill/>
          <a:ln/>
        </p:spPr>
        <p:txBody>
          <a:bodyPr wrap="square" lIns="0" tIns="0" rIns="0" bIns="0" rtlCol="0" anchor="ctr"/>
          <a:lstStyle/>
          <a:p>
            <a:pPr indent="0" marL="0">
              <a:buNone/>
            </a:pPr>
            <a:r>
              <a:rPr lang="en-US" sz="1700" b="1" dirty="0">
                <a:solidFill>
                  <a:srgbClr val="1A2B3C"/>
                </a:solidFill>
                <a:latin typeface="Arial" pitchFamily="34" charset="0"/>
                <a:ea typeface="Arial" pitchFamily="34" charset="-122"/>
                <a:cs typeface="Arial" pitchFamily="34" charset="-120"/>
              </a:rPr>
              <a:t>Monday.com</a:t>
            </a:r>
            <a:endParaRPr lang="en-US" sz="1700" dirty="0"/>
          </a:p>
        </p:txBody>
      </p:sp>
      <p:sp>
        <p:nvSpPr>
          <p:cNvPr id="14" name="Text 12"/>
          <p:cNvSpPr/>
          <p:nvPr/>
        </p:nvSpPr>
        <p:spPr>
          <a:xfrm>
            <a:off x="6400800" y="2377440"/>
            <a:ext cx="2331720" cy="274320"/>
          </a:xfrm>
          <a:prstGeom prst="rect">
            <a:avLst/>
          </a:prstGeom>
          <a:noFill/>
          <a:ln/>
        </p:spPr>
        <p:txBody>
          <a:bodyPr wrap="square" lIns="0" tIns="0" rIns="0" bIns="0" rtlCol="0" anchor="ctr"/>
          <a:lstStyle/>
          <a:p>
            <a:pPr indent="0" marL="0">
              <a:buNone/>
            </a:pPr>
            <a:r>
              <a:rPr lang="en-US" sz="1200" b="1" spc="200" kern="0" dirty="0">
                <a:solidFill>
                  <a:srgbClr val="C0563B"/>
                </a:solidFill>
                <a:latin typeface="Arial" pitchFamily="34" charset="0"/>
                <a:ea typeface="Arial" pitchFamily="34" charset="-122"/>
                <a:cs typeface="Arial" pitchFamily="34" charset="-120"/>
              </a:rPr>
              <a:t>RETIRE</a:t>
            </a:r>
            <a:endParaRPr lang="en-US" sz="1200" dirty="0"/>
          </a:p>
        </p:txBody>
      </p:sp>
      <p:sp>
        <p:nvSpPr>
          <p:cNvPr id="15" name="Text 13"/>
          <p:cNvSpPr/>
          <p:nvPr/>
        </p:nvSpPr>
        <p:spPr>
          <a:xfrm>
            <a:off x="6400800" y="2743200"/>
            <a:ext cx="2331720" cy="960120"/>
          </a:xfrm>
          <a:prstGeom prst="rect">
            <a:avLst/>
          </a:prstGeom>
          <a:noFill/>
          <a:ln/>
        </p:spPr>
        <p:txBody>
          <a:bodyPr wrap="square" lIns="0" tIns="0" rIns="0" bIns="0" rtlCol="0" anchor="ctr"/>
          <a:lstStyle/>
          <a:p>
            <a:pPr indent="0" marL="0">
              <a:lnSpc>
                <a:spcPct val="110000"/>
              </a:lnSpc>
              <a:buNone/>
            </a:pPr>
            <a:r>
              <a:rPr lang="en-US" sz="1100" dirty="0">
                <a:solidFill>
                  <a:srgbClr val="3A4A5A"/>
                </a:solidFill>
                <a:latin typeface="Arial" pitchFamily="34" charset="0"/>
                <a:ea typeface="Arial" pitchFamily="34" charset="-122"/>
                <a:cs typeface="Arial" pitchFamily="34" charset="-120"/>
              </a:rPr>
              <a:t>Competent but beats Asana on nothing. Users rehomed.</a:t>
            </a:r>
            <a:endParaRPr lang="en-US" sz="1100" dirty="0"/>
          </a:p>
        </p:txBody>
      </p:sp>
      <p:sp>
        <p:nvSpPr>
          <p:cNvPr id="16" name="Shape 14"/>
          <p:cNvSpPr/>
          <p:nvPr/>
        </p:nvSpPr>
        <p:spPr>
          <a:xfrm>
            <a:off x="9052560" y="1783080"/>
            <a:ext cx="2697480" cy="2011680"/>
          </a:xfrm>
          <a:prstGeom prst="roundRect">
            <a:avLst>
              <a:gd name="adj" fmla="val 3636"/>
            </a:avLst>
          </a:prstGeom>
          <a:solidFill>
            <a:srgbClr val="EDF1F6"/>
          </a:solidFill>
          <a:ln/>
        </p:spPr>
      </p:sp>
      <p:sp>
        <p:nvSpPr>
          <p:cNvPr id="17" name="Text 15"/>
          <p:cNvSpPr/>
          <p:nvPr/>
        </p:nvSpPr>
        <p:spPr>
          <a:xfrm>
            <a:off x="9235440" y="1965960"/>
            <a:ext cx="2331720" cy="365760"/>
          </a:xfrm>
          <a:prstGeom prst="rect">
            <a:avLst/>
          </a:prstGeom>
          <a:noFill/>
          <a:ln/>
        </p:spPr>
        <p:txBody>
          <a:bodyPr wrap="square" lIns="0" tIns="0" rIns="0" bIns="0" rtlCol="0" anchor="ctr"/>
          <a:lstStyle/>
          <a:p>
            <a:pPr indent="0" marL="0">
              <a:buNone/>
            </a:pPr>
            <a:r>
              <a:rPr lang="en-US" sz="1700" b="1" dirty="0">
                <a:solidFill>
                  <a:srgbClr val="1A2B3C"/>
                </a:solidFill>
                <a:latin typeface="Arial" pitchFamily="34" charset="0"/>
                <a:ea typeface="Arial" pitchFamily="34" charset="-122"/>
                <a:cs typeface="Arial" pitchFamily="34" charset="-120"/>
              </a:rPr>
              <a:t>Trello</a:t>
            </a:r>
            <a:endParaRPr lang="en-US" sz="1700" dirty="0"/>
          </a:p>
        </p:txBody>
      </p:sp>
      <p:sp>
        <p:nvSpPr>
          <p:cNvPr id="18" name="Text 16"/>
          <p:cNvSpPr/>
          <p:nvPr/>
        </p:nvSpPr>
        <p:spPr>
          <a:xfrm>
            <a:off x="9235440" y="2377440"/>
            <a:ext cx="2331720" cy="274320"/>
          </a:xfrm>
          <a:prstGeom prst="rect">
            <a:avLst/>
          </a:prstGeom>
          <a:noFill/>
          <a:ln/>
        </p:spPr>
        <p:txBody>
          <a:bodyPr wrap="square" lIns="0" tIns="0" rIns="0" bIns="0" rtlCol="0" anchor="ctr"/>
          <a:lstStyle/>
          <a:p>
            <a:pPr indent="0" marL="0">
              <a:buNone/>
            </a:pPr>
            <a:r>
              <a:rPr lang="en-US" sz="1200" b="1" spc="200" kern="0" dirty="0">
                <a:solidFill>
                  <a:srgbClr val="C0563B"/>
                </a:solidFill>
                <a:latin typeface="Arial" pitchFamily="34" charset="0"/>
                <a:ea typeface="Arial" pitchFamily="34" charset="-122"/>
                <a:cs typeface="Arial" pitchFamily="34" charset="-120"/>
              </a:rPr>
              <a:t>RETIRE</a:t>
            </a:r>
            <a:endParaRPr lang="en-US" sz="1200" dirty="0"/>
          </a:p>
        </p:txBody>
      </p:sp>
      <p:sp>
        <p:nvSpPr>
          <p:cNvPr id="19" name="Text 17"/>
          <p:cNvSpPr/>
          <p:nvPr/>
        </p:nvSpPr>
        <p:spPr>
          <a:xfrm>
            <a:off x="9235440" y="2743200"/>
            <a:ext cx="2331720" cy="960120"/>
          </a:xfrm>
          <a:prstGeom prst="rect">
            <a:avLst/>
          </a:prstGeom>
          <a:noFill/>
          <a:ln/>
        </p:spPr>
        <p:txBody>
          <a:bodyPr wrap="square" lIns="0" tIns="0" rIns="0" bIns="0" rtlCol="0" anchor="ctr"/>
          <a:lstStyle/>
          <a:p>
            <a:pPr indent="0" marL="0">
              <a:lnSpc>
                <a:spcPct val="110000"/>
              </a:lnSpc>
              <a:buNone/>
            </a:pPr>
            <a:r>
              <a:rPr lang="en-US" sz="1100" dirty="0">
                <a:solidFill>
                  <a:srgbClr val="3A4A5A"/>
                </a:solidFill>
                <a:latin typeface="Arial" pitchFamily="34" charset="0"/>
                <a:ea typeface="Arial" pitchFamily="34" charset="-122"/>
                <a:cs typeface="Arial" pitchFamily="34" charset="-120"/>
              </a:rPr>
              <a:t>Lightweight. Hard to justify at Enterprise pricing.</a:t>
            </a:r>
            <a:endParaRPr lang="en-US" sz="1100" dirty="0"/>
          </a:p>
        </p:txBody>
      </p:sp>
      <p:sp>
        <p:nvSpPr>
          <p:cNvPr id="20" name="Shape 18"/>
          <p:cNvSpPr/>
          <p:nvPr/>
        </p:nvSpPr>
        <p:spPr>
          <a:xfrm>
            <a:off x="548640" y="4069080"/>
            <a:ext cx="11064240" cy="1965960"/>
          </a:xfrm>
          <a:prstGeom prst="roundRect">
            <a:avLst>
              <a:gd name="adj" fmla="val 2791"/>
            </a:avLst>
          </a:prstGeom>
          <a:solidFill>
            <a:srgbClr val="F4F7FB"/>
          </a:solidFill>
          <a:ln w="12700">
            <a:solidFill>
              <a:srgbClr val="D6E0F0"/>
            </a:solidFill>
            <a:prstDash val="solid"/>
          </a:ln>
        </p:spPr>
      </p:sp>
      <p:sp>
        <p:nvSpPr>
          <p:cNvPr id="21" name="Text 19"/>
          <p:cNvSpPr/>
          <p:nvPr/>
        </p:nvSpPr>
        <p:spPr>
          <a:xfrm>
            <a:off x="822960" y="4251960"/>
            <a:ext cx="10515600" cy="365760"/>
          </a:xfrm>
          <a:prstGeom prst="rect">
            <a:avLst/>
          </a:prstGeom>
          <a:noFill/>
          <a:ln/>
        </p:spPr>
        <p:txBody>
          <a:bodyPr wrap="square" lIns="0" tIns="0" rIns="0" bIns="0" rtlCol="0" anchor="ctr"/>
          <a:lstStyle/>
          <a:p>
            <a:pPr indent="0" marL="0">
              <a:buNone/>
            </a:pPr>
            <a:r>
              <a:rPr lang="en-US" sz="1500" b="1" dirty="0">
                <a:solidFill>
                  <a:srgbClr val="1A2B3C"/>
                </a:solidFill>
                <a:latin typeface="Arial" pitchFamily="34" charset="0"/>
                <a:ea typeface="Arial" pitchFamily="34" charset="-122"/>
                <a:cs typeface="Arial" pitchFamily="34" charset="-120"/>
              </a:rPr>
              <a:t>Why not just pick the highest score?</a:t>
            </a:r>
            <a:endParaRPr lang="en-US" sz="1500" dirty="0"/>
          </a:p>
        </p:txBody>
      </p:sp>
      <p:sp>
        <p:nvSpPr>
          <p:cNvPr id="22" name="Text 20"/>
          <p:cNvSpPr/>
          <p:nvPr/>
        </p:nvSpPr>
        <p:spPr>
          <a:xfrm>
            <a:off x="822960" y="4663440"/>
            <a:ext cx="10515600" cy="1280160"/>
          </a:xfrm>
          <a:prstGeom prst="rect">
            <a:avLst/>
          </a:prstGeom>
          <a:noFill/>
          <a:ln/>
        </p:spPr>
        <p:txBody>
          <a:bodyPr wrap="square" lIns="0" tIns="0" rIns="0" bIns="0" rtlCol="0" anchor="ctr"/>
          <a:lstStyle/>
          <a:p>
            <a:pPr indent="0" marL="0">
              <a:lnSpc>
                <a:spcPct val="120000"/>
              </a:lnSpc>
              <a:buNone/>
            </a:pPr>
            <a:r>
              <a:rPr lang="en-US" sz="1250" b="1" dirty="0">
                <a:solidFill>
                  <a:srgbClr val="1A2B3C"/>
                </a:solidFill>
                <a:latin typeface="Arial" pitchFamily="34" charset="0"/>
                <a:ea typeface="Arial" pitchFamily="34" charset="-122"/>
                <a:cs typeface="Arial" pitchFamily="34" charset="-120"/>
              </a:rPr>
              <a:t>On the weighted scorecard Asana and Jira tie at 4.00. </a:t>
            </a:r>
            <a:pPr indent="0" marL="0">
              <a:lnSpc>
                <a:spcPct val="120000"/>
              </a:lnSpc>
              <a:buNone/>
            </a:pPr>
            <a:r>
              <a:rPr lang="en-US" sz="1250" dirty="0">
                <a:solidFill>
                  <a:srgbClr val="3A4A5A"/>
                </a:solidFill>
                <a:latin typeface="Arial" pitchFamily="34" charset="0"/>
                <a:ea typeface="Arial" pitchFamily="34" charset="-122"/>
                <a:cs typeface="Arial" pitchFamily="34" charset="-120"/>
              </a:rPr>
              <a:t>Jira's score is carried by integrations, security and scalability, the things a software org needs and a marketer does not. Asana scores evenly, with its strongest mark on breadth of fit, the criterion that carries the most weight. So the tie is the recommendation: Jira wins for Engineering, Asana wins as the general standard. A scorecard read naively would have merged them and broken one side.</a:t>
            </a:r>
            <a:endParaRPr lang="en-US" sz="1250" dirty="0"/>
          </a:p>
        </p:txBody>
      </p:sp>
      <p:sp>
        <p:nvSpPr>
          <p:cNvPr id="23" name="Text 2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BAB"/>
                </a:solidFill>
                <a:latin typeface="Arial" pitchFamily="34" charset="0"/>
                <a:ea typeface="Arial" pitchFamily="34" charset="-122"/>
                <a:cs typeface="Arial" pitchFamily="34" charset="-120"/>
              </a:rPr>
              <a:t>Meridian Mobility  ·  SaaS consolidation</a:t>
            </a:r>
            <a:endParaRPr lang="en-US" sz="900" dirty="0"/>
          </a:p>
        </p:txBody>
      </p:sp>
      <p:sp>
        <p:nvSpPr>
          <p:cNvPr id="24" name="Text 22"/>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A9BA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THE SAVINGS</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2600" b="1" dirty="0">
                <a:solidFill>
                  <a:srgbClr val="1A2B3C"/>
                </a:solidFill>
                <a:latin typeface="Arial" pitchFamily="34" charset="0"/>
                <a:ea typeface="Arial" pitchFamily="34" charset="-122"/>
                <a:cs typeface="Arial" pitchFamily="34" charset="-120"/>
              </a:rPr>
              <a:t>€2.37M to €1.76M, with every lever isolated</a:t>
            </a:r>
            <a:endParaRPr lang="en-US" sz="2600" dirty="0"/>
          </a:p>
        </p:txBody>
      </p:sp>
      <p:pic>
        <p:nvPicPr>
          <p:cNvPr id="4" name="Image 0" descr="06_savings_waterfall.png">    </p:cNvPr>
          <p:cNvPicPr>
            <a:picLocks noChangeAspect="1"/>
          </p:cNvPicPr>
          <p:nvPr/>
        </p:nvPicPr>
        <p:blipFill>
          <a:blip r:embed="rId1"/>
          <a:stretch>
            <a:fillRect/>
          </a:stretch>
        </p:blipFill>
        <p:spPr>
          <a:xfrm>
            <a:off x="365760" y="1783080"/>
            <a:ext cx="7680960" cy="3931920"/>
          </a:xfrm>
          <a:prstGeom prst="rect">
            <a:avLst/>
          </a:prstGeom>
        </p:spPr>
      </p:pic>
      <p:sp>
        <p:nvSpPr>
          <p:cNvPr id="5" name="Shape 2"/>
          <p:cNvSpPr/>
          <p:nvPr/>
        </p:nvSpPr>
        <p:spPr>
          <a:xfrm>
            <a:off x="8321040" y="1920240"/>
            <a:ext cx="3291840" cy="3657600"/>
          </a:xfrm>
          <a:prstGeom prst="roundRect">
            <a:avLst>
              <a:gd name="adj" fmla="val 1667"/>
            </a:avLst>
          </a:prstGeom>
          <a:solidFill>
            <a:srgbClr val="1A2B3C"/>
          </a:solidFill>
          <a:ln/>
        </p:spPr>
      </p:sp>
      <p:sp>
        <p:nvSpPr>
          <p:cNvPr id="6" name="Text 3"/>
          <p:cNvSpPr/>
          <p:nvPr/>
        </p:nvSpPr>
        <p:spPr>
          <a:xfrm>
            <a:off x="8549640" y="2148840"/>
            <a:ext cx="2834640" cy="274320"/>
          </a:xfrm>
          <a:prstGeom prst="rect">
            <a:avLst/>
          </a:prstGeom>
          <a:noFill/>
          <a:ln/>
        </p:spPr>
        <p:txBody>
          <a:bodyPr wrap="square" lIns="0" tIns="0" rIns="0" bIns="0" rtlCol="0" anchor="ctr"/>
          <a:lstStyle/>
          <a:p>
            <a:pPr indent="0" marL="0">
              <a:buNone/>
            </a:pPr>
            <a:r>
              <a:rPr lang="en-US" sz="1100" b="1" spc="200" kern="0" dirty="0">
                <a:solidFill>
                  <a:srgbClr val="9FB4D8"/>
                </a:solidFill>
                <a:latin typeface="Arial" pitchFamily="34" charset="0"/>
                <a:ea typeface="Arial" pitchFamily="34" charset="-122"/>
                <a:cs typeface="Arial" pitchFamily="34" charset="-120"/>
              </a:rPr>
              <a:t>SAVINGS RANGE</a:t>
            </a:r>
            <a:endParaRPr lang="en-US" sz="1100" dirty="0"/>
          </a:p>
        </p:txBody>
      </p:sp>
      <p:sp>
        <p:nvSpPr>
          <p:cNvPr id="7" name="Text 4"/>
          <p:cNvSpPr/>
          <p:nvPr/>
        </p:nvSpPr>
        <p:spPr>
          <a:xfrm>
            <a:off x="8549640" y="2514600"/>
            <a:ext cx="2834640" cy="411480"/>
          </a:xfrm>
          <a:prstGeom prst="rect">
            <a:avLst/>
          </a:prstGeom>
          <a:noFill/>
          <a:ln/>
        </p:spPr>
        <p:txBody>
          <a:bodyPr wrap="square" lIns="0" tIns="0" rIns="0" bIns="0" rtlCol="0" anchor="ctr"/>
          <a:lstStyle/>
          <a:p>
            <a:pPr indent="0" marL="0">
              <a:buNone/>
            </a:pPr>
            <a:r>
              <a:rPr lang="en-US" sz="2200" b="1" dirty="0">
                <a:solidFill>
                  <a:srgbClr val="D6E0F0"/>
                </a:solidFill>
                <a:latin typeface="Arial" pitchFamily="34" charset="0"/>
                <a:ea typeface="Arial" pitchFamily="34" charset="-122"/>
                <a:cs typeface="Arial" pitchFamily="34" charset="-120"/>
              </a:rPr>
              <a:t>€540K</a:t>
            </a:r>
            <a:endParaRPr lang="en-US" sz="2200" dirty="0"/>
          </a:p>
        </p:txBody>
      </p:sp>
      <p:sp>
        <p:nvSpPr>
          <p:cNvPr id="8" name="Text 5"/>
          <p:cNvSpPr/>
          <p:nvPr/>
        </p:nvSpPr>
        <p:spPr>
          <a:xfrm>
            <a:off x="8549640" y="2916936"/>
            <a:ext cx="2880360" cy="502920"/>
          </a:xfrm>
          <a:prstGeom prst="rect">
            <a:avLst/>
          </a:prstGeom>
          <a:noFill/>
          <a:ln/>
        </p:spPr>
        <p:txBody>
          <a:bodyPr wrap="square" lIns="0" tIns="0" rIns="0" bIns="0" rtlCol="0" anchor="ctr"/>
          <a:lstStyle/>
          <a:p>
            <a:pPr indent="0" marL="0">
              <a:lnSpc>
                <a:spcPct val="105000"/>
              </a:lnSpc>
              <a:buNone/>
            </a:pPr>
            <a:r>
              <a:rPr lang="en-US" sz="1050" dirty="0">
                <a:solidFill>
                  <a:srgbClr val="8A9BAB"/>
                </a:solidFill>
                <a:latin typeface="Arial" pitchFamily="34" charset="0"/>
                <a:ea typeface="Arial" pitchFamily="34" charset="-122"/>
                <a:cs typeface="Arial" pitchFamily="34" charset="-120"/>
              </a:rPr>
              <a:t>Conservative  ·  Asana −8%, Jira untouched</a:t>
            </a:r>
            <a:endParaRPr lang="en-US" sz="1050" dirty="0"/>
          </a:p>
        </p:txBody>
      </p:sp>
      <p:sp>
        <p:nvSpPr>
          <p:cNvPr id="9" name="Text 6"/>
          <p:cNvSpPr/>
          <p:nvPr/>
        </p:nvSpPr>
        <p:spPr>
          <a:xfrm>
            <a:off x="8549640" y="3474720"/>
            <a:ext cx="283464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€610K</a:t>
            </a:r>
            <a:endParaRPr lang="en-US" sz="2200" dirty="0"/>
          </a:p>
        </p:txBody>
      </p:sp>
      <p:sp>
        <p:nvSpPr>
          <p:cNvPr id="10" name="Text 7"/>
          <p:cNvSpPr/>
          <p:nvPr/>
        </p:nvSpPr>
        <p:spPr>
          <a:xfrm>
            <a:off x="8549640" y="3877056"/>
            <a:ext cx="2880360" cy="502920"/>
          </a:xfrm>
          <a:prstGeom prst="rect">
            <a:avLst/>
          </a:prstGeom>
          <a:noFill/>
          <a:ln/>
        </p:spPr>
        <p:txBody>
          <a:bodyPr wrap="square" lIns="0" tIns="0" rIns="0" bIns="0" rtlCol="0" anchor="ctr"/>
          <a:lstStyle/>
          <a:p>
            <a:pPr indent="0" marL="0">
              <a:lnSpc>
                <a:spcPct val="105000"/>
              </a:lnSpc>
              <a:buNone/>
            </a:pPr>
            <a:r>
              <a:rPr lang="en-US" sz="1050" dirty="0">
                <a:solidFill>
                  <a:srgbClr val="8A9BAB"/>
                </a:solidFill>
                <a:latin typeface="Arial" pitchFamily="34" charset="0"/>
                <a:ea typeface="Arial" pitchFamily="34" charset="-122"/>
                <a:cs typeface="Arial" pitchFamily="34" charset="-120"/>
              </a:rPr>
              <a:t>Base  ·  Asana −17%, Jira untouched</a:t>
            </a:r>
            <a:endParaRPr lang="en-US" sz="1050" dirty="0"/>
          </a:p>
        </p:txBody>
      </p:sp>
      <p:sp>
        <p:nvSpPr>
          <p:cNvPr id="11" name="Text 8"/>
          <p:cNvSpPr/>
          <p:nvPr/>
        </p:nvSpPr>
        <p:spPr>
          <a:xfrm>
            <a:off x="8549640" y="4434840"/>
            <a:ext cx="2834640" cy="411480"/>
          </a:xfrm>
          <a:prstGeom prst="rect">
            <a:avLst/>
          </a:prstGeom>
          <a:noFill/>
          <a:ln/>
        </p:spPr>
        <p:txBody>
          <a:bodyPr wrap="square" lIns="0" tIns="0" rIns="0" bIns="0" rtlCol="0" anchor="ctr"/>
          <a:lstStyle/>
          <a:p>
            <a:pPr indent="0" marL="0">
              <a:buNone/>
            </a:pPr>
            <a:r>
              <a:rPr lang="en-US" sz="2200" b="1" dirty="0">
                <a:solidFill>
                  <a:srgbClr val="D6E0F0"/>
                </a:solidFill>
                <a:latin typeface="Arial" pitchFamily="34" charset="0"/>
                <a:ea typeface="Arial" pitchFamily="34" charset="-122"/>
                <a:cs typeface="Arial" pitchFamily="34" charset="-120"/>
              </a:rPr>
              <a:t>€750K</a:t>
            </a:r>
            <a:endParaRPr lang="en-US" sz="2200" dirty="0"/>
          </a:p>
        </p:txBody>
      </p:sp>
      <p:sp>
        <p:nvSpPr>
          <p:cNvPr id="12" name="Text 9"/>
          <p:cNvSpPr/>
          <p:nvPr/>
        </p:nvSpPr>
        <p:spPr>
          <a:xfrm>
            <a:off x="8549640" y="4837176"/>
            <a:ext cx="2880360" cy="502920"/>
          </a:xfrm>
          <a:prstGeom prst="rect">
            <a:avLst/>
          </a:prstGeom>
          <a:noFill/>
          <a:ln/>
        </p:spPr>
        <p:txBody>
          <a:bodyPr wrap="square" lIns="0" tIns="0" rIns="0" bIns="0" rtlCol="0" anchor="ctr"/>
          <a:lstStyle/>
          <a:p>
            <a:pPr indent="0" marL="0">
              <a:lnSpc>
                <a:spcPct val="105000"/>
              </a:lnSpc>
              <a:buNone/>
            </a:pPr>
            <a:r>
              <a:rPr lang="en-US" sz="1050" dirty="0">
                <a:solidFill>
                  <a:srgbClr val="8A9BAB"/>
                </a:solidFill>
                <a:latin typeface="Arial" pitchFamily="34" charset="0"/>
                <a:ea typeface="Arial" pitchFamily="34" charset="-122"/>
                <a:cs typeface="Arial" pitchFamily="34" charset="-120"/>
              </a:rPr>
              <a:t>Optimistic  ·  Asana −21% + Jira right-sized</a:t>
            </a:r>
            <a:endParaRPr lang="en-US" sz="1050" dirty="0"/>
          </a:p>
        </p:txBody>
      </p:sp>
      <p:sp>
        <p:nvSpPr>
          <p:cNvPr id="13" name="Text 10"/>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BAB"/>
                </a:solidFill>
                <a:latin typeface="Arial" pitchFamily="34" charset="0"/>
                <a:ea typeface="Arial" pitchFamily="34" charset="-122"/>
                <a:cs typeface="Arial" pitchFamily="34" charset="-120"/>
              </a:rPr>
              <a:t>Meridian Mobility  ·  SaaS consolidation</a:t>
            </a:r>
            <a:endParaRPr lang="en-US" sz="900" dirty="0"/>
          </a:p>
        </p:txBody>
      </p:sp>
      <p:sp>
        <p:nvSpPr>
          <p:cNvPr id="14" name="Text 1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A9BA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THE SEQUENCE</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2600" b="1" dirty="0">
                <a:solidFill>
                  <a:srgbClr val="1A2B3C"/>
                </a:solidFill>
                <a:latin typeface="Arial" pitchFamily="34" charset="0"/>
                <a:ea typeface="Arial" pitchFamily="34" charset="-122"/>
                <a:cs typeface="Arial" pitchFamily="34" charset="-120"/>
              </a:rPr>
              <a:t>The renewal calendar is the strategy</a:t>
            </a:r>
            <a:endParaRPr lang="en-US" sz="2600" dirty="0"/>
          </a:p>
        </p:txBody>
      </p:sp>
      <p:pic>
        <p:nvPicPr>
          <p:cNvPr id="4" name="Image 0" descr="04_renewal_timeline.png">    </p:cNvPr>
          <p:cNvPicPr>
            <a:picLocks noChangeAspect="1"/>
          </p:cNvPicPr>
          <p:nvPr/>
        </p:nvPicPr>
        <p:blipFill>
          <a:blip r:embed="rId1"/>
          <a:stretch>
            <a:fillRect/>
          </a:stretch>
        </p:blipFill>
        <p:spPr>
          <a:xfrm>
            <a:off x="457200" y="1783080"/>
            <a:ext cx="7498080" cy="3520440"/>
          </a:xfrm>
          <a:prstGeom prst="rect">
            <a:avLst/>
          </a:prstGeom>
        </p:spPr>
      </p:pic>
      <p:sp>
        <p:nvSpPr>
          <p:cNvPr id="5" name="Shape 2"/>
          <p:cNvSpPr/>
          <p:nvPr/>
        </p:nvSpPr>
        <p:spPr>
          <a:xfrm>
            <a:off x="8229600" y="1920240"/>
            <a:ext cx="3383280" cy="3291840"/>
          </a:xfrm>
          <a:prstGeom prst="roundRect">
            <a:avLst>
              <a:gd name="adj" fmla="val 1667"/>
            </a:avLst>
          </a:prstGeom>
          <a:solidFill>
            <a:srgbClr val="F4F7FB"/>
          </a:solidFill>
          <a:ln w="12700">
            <a:solidFill>
              <a:srgbClr val="D6E0F0"/>
            </a:solidFill>
            <a:prstDash val="solid"/>
          </a:ln>
        </p:spPr>
      </p:sp>
      <p:sp>
        <p:nvSpPr>
          <p:cNvPr id="6" name="Text 3"/>
          <p:cNvSpPr/>
          <p:nvPr/>
        </p:nvSpPr>
        <p:spPr>
          <a:xfrm>
            <a:off x="8458200" y="2103120"/>
            <a:ext cx="3017520" cy="320040"/>
          </a:xfrm>
          <a:prstGeom prst="rect">
            <a:avLst/>
          </a:prstGeom>
          <a:noFill/>
          <a:ln/>
        </p:spPr>
        <p:txBody>
          <a:bodyPr wrap="square" lIns="0" tIns="0" rIns="0" bIns="0" rtlCol="0" anchor="ctr"/>
          <a:lstStyle/>
          <a:p>
            <a:pPr indent="0" marL="0">
              <a:buNone/>
            </a:pPr>
            <a:r>
              <a:rPr lang="en-US" sz="1400" b="1" dirty="0">
                <a:solidFill>
                  <a:srgbClr val="1A2B3C"/>
                </a:solidFill>
                <a:latin typeface="Arial" pitchFamily="34" charset="0"/>
                <a:ea typeface="Arial" pitchFamily="34" charset="-122"/>
                <a:cs typeface="Arial" pitchFamily="34" charset="-120"/>
              </a:rPr>
              <a:t>Why the order matters</a:t>
            </a:r>
            <a:endParaRPr lang="en-US" sz="1400" dirty="0"/>
          </a:p>
        </p:txBody>
      </p:sp>
      <p:sp>
        <p:nvSpPr>
          <p:cNvPr id="7" name="Text 4"/>
          <p:cNvSpPr/>
          <p:nvPr/>
        </p:nvSpPr>
        <p:spPr>
          <a:xfrm>
            <a:off x="8458200" y="2514600"/>
            <a:ext cx="3017520" cy="2560320"/>
          </a:xfrm>
          <a:prstGeom prst="rect">
            <a:avLst/>
          </a:prstGeom>
          <a:noFill/>
          <a:ln/>
        </p:spPr>
        <p:txBody>
          <a:bodyPr wrap="square" lIns="0" tIns="0" rIns="0" bIns="0" rtlCol="0" anchor="ctr"/>
          <a:lstStyle/>
          <a:p>
            <a:pPr indent="0" marL="0">
              <a:lnSpc>
                <a:spcPct val="120000"/>
              </a:lnSpc>
              <a:buNone/>
            </a:pPr>
            <a:r>
              <a:rPr lang="en-US" sz="1200" dirty="0">
                <a:solidFill>
                  <a:srgbClr val="3A4A5A"/>
                </a:solidFill>
                <a:latin typeface="Arial" pitchFamily="34" charset="0"/>
                <a:ea typeface="Arial" pitchFamily="34" charset="-122"/>
                <a:cs typeface="Arial" pitchFamily="34" charset="-120"/>
              </a:rPr>
              <a:t>Monday.com expires one month before Asana. So I retire a vendor first, in full view of Asana's account team, and walk into the Asana renewal having already proven Meridian will cut a tool that is not earning its keep.</a:t>
            </a:r>
            <a:endParaRPr lang="en-US" sz="1200" dirty="0"/>
          </a:p>
          <a:p>
            <a:pPr indent="0" marL="0">
              <a:lnSpc>
                <a:spcPct val="120000"/>
              </a:lnSpc>
              <a:buNone/>
            </a:pPr>
            <a:endParaRPr lang="en-US" sz="1200" dirty="0"/>
          </a:p>
          <a:p>
            <a:pPr indent="0" marL="0">
              <a:lnSpc>
                <a:spcPct val="120000"/>
              </a:lnSpc>
              <a:buNone/>
            </a:pPr>
            <a:r>
              <a:rPr lang="en-US" sz="1200" dirty="0">
                <a:solidFill>
                  <a:srgbClr val="3A4A5A"/>
                </a:solidFill>
                <a:latin typeface="Arial" pitchFamily="34" charset="0"/>
                <a:ea typeface="Arial" pitchFamily="34" charset="-122"/>
                <a:cs typeface="Arial" pitchFamily="34" charset="-120"/>
              </a:rPr>
              <a:t>Sequence is leverage. The credible threat to walk is demonstrated before I need it.</a:t>
            </a:r>
            <a:endParaRPr lang="en-US" sz="1200" dirty="0"/>
          </a:p>
        </p:txBody>
      </p:sp>
      <p:sp>
        <p:nvSpPr>
          <p:cNvPr id="8" name="Text 5"/>
          <p:cNvSpPr/>
          <p:nvPr/>
        </p:nvSpPr>
        <p:spPr>
          <a:xfrm>
            <a:off x="548640" y="5486400"/>
            <a:ext cx="7498080" cy="548640"/>
          </a:xfrm>
          <a:prstGeom prst="rect">
            <a:avLst/>
          </a:prstGeom>
          <a:noFill/>
          <a:ln/>
        </p:spPr>
        <p:txBody>
          <a:bodyPr wrap="square" lIns="0" tIns="0" rIns="0" bIns="0" rtlCol="0" anchor="ctr"/>
          <a:lstStyle/>
          <a:p>
            <a:pPr indent="0" marL="0">
              <a:buNone/>
            </a:pPr>
            <a:r>
              <a:rPr lang="en-US" sz="1400" b="1" i="1" dirty="0">
                <a:solidFill>
                  <a:srgbClr val="2F6FED"/>
                </a:solidFill>
                <a:latin typeface="Arial" pitchFamily="34" charset="0"/>
                <a:ea typeface="Arial" pitchFamily="34" charset="-122"/>
                <a:cs typeface="Arial" pitchFamily="34" charset="-120"/>
              </a:rPr>
              <a:t>"The savings are not in the spreadsheet. They are in the renewal calendar."</a:t>
            </a:r>
            <a:endParaRPr lang="en-US" sz="1400" dirty="0"/>
          </a:p>
        </p:txBody>
      </p:sp>
      <p:sp>
        <p:nvSpPr>
          <p:cNvPr id="9" name="Text 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BAB"/>
                </a:solidFill>
                <a:latin typeface="Arial" pitchFamily="34" charset="0"/>
                <a:ea typeface="Arial" pitchFamily="34" charset="-122"/>
                <a:cs typeface="Arial" pitchFamily="34" charset="-120"/>
              </a:rPr>
              <a:t>Meridian Mobility  ·  SaaS consolidation</a:t>
            </a:r>
            <a:endParaRPr lang="en-US" sz="900" dirty="0"/>
          </a:p>
        </p:txBody>
      </p:sp>
      <p:sp>
        <p:nvSpPr>
          <p:cNvPr id="10" name="Text 7"/>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A9BA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THE NEGOTIATION</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2600" b="1" dirty="0">
                <a:solidFill>
                  <a:srgbClr val="1A2B3C"/>
                </a:solidFill>
                <a:latin typeface="Arial" pitchFamily="34" charset="0"/>
                <a:ea typeface="Arial" pitchFamily="34" charset="-122"/>
                <a:cs typeface="Arial" pitchFamily="34" charset="-120"/>
              </a:rPr>
              <a:t>The Asana renewal, worked out</a:t>
            </a:r>
            <a:endParaRPr lang="en-US" sz="2600" dirty="0"/>
          </a:p>
        </p:txBody>
      </p:sp>
      <p:sp>
        <p:nvSpPr>
          <p:cNvPr id="4" name="Text 2"/>
          <p:cNvSpPr/>
          <p:nvPr/>
        </p:nvSpPr>
        <p:spPr>
          <a:xfrm>
            <a:off x="548640" y="1783080"/>
            <a:ext cx="5120640" cy="320040"/>
          </a:xfrm>
          <a:prstGeom prst="rect">
            <a:avLst/>
          </a:prstGeom>
          <a:noFill/>
          <a:ln/>
        </p:spPr>
        <p:txBody>
          <a:bodyPr wrap="square" lIns="0" tIns="0" rIns="0" bIns="0" rtlCol="0" anchor="ctr"/>
          <a:lstStyle/>
          <a:p>
            <a:pPr indent="0" marL="0">
              <a:buNone/>
            </a:pPr>
            <a:r>
              <a:rPr lang="en-US" sz="1300" b="1" dirty="0">
                <a:solidFill>
                  <a:srgbClr val="1A2B3C"/>
                </a:solidFill>
                <a:latin typeface="Arial" pitchFamily="34" charset="0"/>
                <a:ea typeface="Arial" pitchFamily="34" charset="-122"/>
                <a:cs typeface="Arial" pitchFamily="34" charset="-120"/>
              </a:rPr>
              <a:t>Rate per seat on 710 seats</a:t>
            </a:r>
            <a:endParaRPr lang="en-US" sz="1300" dirty="0"/>
          </a:p>
        </p:txBody>
      </p:sp>
      <p:sp>
        <p:nvSpPr>
          <p:cNvPr id="5" name="Shape 3"/>
          <p:cNvSpPr/>
          <p:nvPr/>
        </p:nvSpPr>
        <p:spPr>
          <a:xfrm>
            <a:off x="548640" y="2194560"/>
            <a:ext cx="5120640" cy="548640"/>
          </a:xfrm>
          <a:prstGeom prst="rect">
            <a:avLst/>
          </a:prstGeom>
          <a:solidFill>
            <a:srgbClr val="FFFFFF"/>
          </a:solidFill>
          <a:ln w="12700">
            <a:solidFill>
              <a:srgbClr val="D6E0F0"/>
            </a:solidFill>
            <a:prstDash val="solid"/>
          </a:ln>
        </p:spPr>
      </p:sp>
      <p:sp>
        <p:nvSpPr>
          <p:cNvPr id="6" name="Text 4"/>
          <p:cNvSpPr/>
          <p:nvPr/>
        </p:nvSpPr>
        <p:spPr>
          <a:xfrm>
            <a:off x="685800" y="2194560"/>
            <a:ext cx="2194560" cy="548640"/>
          </a:xfrm>
          <a:prstGeom prst="rect">
            <a:avLst/>
          </a:prstGeom>
          <a:noFill/>
          <a:ln/>
        </p:spPr>
        <p:txBody>
          <a:bodyPr wrap="square" lIns="0" tIns="0" rIns="0" bIns="0" rtlCol="0" anchor="ctr"/>
          <a:lstStyle/>
          <a:p>
            <a:pPr indent="0" marL="0">
              <a:buNone/>
            </a:pPr>
            <a:r>
              <a:rPr lang="en-US" sz="1250" dirty="0">
                <a:solidFill>
                  <a:srgbClr val="1A2B3C"/>
                </a:solidFill>
                <a:latin typeface="Arial" pitchFamily="34" charset="0"/>
                <a:ea typeface="Arial" pitchFamily="34" charset="-122"/>
                <a:cs typeface="Arial" pitchFamily="34" charset="-120"/>
              </a:rPr>
              <a:t>Opening ask</a:t>
            </a:r>
            <a:endParaRPr lang="en-US" sz="1250" dirty="0"/>
          </a:p>
        </p:txBody>
      </p:sp>
      <p:sp>
        <p:nvSpPr>
          <p:cNvPr id="7" name="Text 5"/>
          <p:cNvSpPr/>
          <p:nvPr/>
        </p:nvSpPr>
        <p:spPr>
          <a:xfrm>
            <a:off x="2834640" y="2194560"/>
            <a:ext cx="1463040" cy="548640"/>
          </a:xfrm>
          <a:prstGeom prst="rect">
            <a:avLst/>
          </a:prstGeom>
          <a:noFill/>
          <a:ln/>
        </p:spPr>
        <p:txBody>
          <a:bodyPr wrap="square" lIns="0" tIns="0" rIns="0" bIns="0" rtlCol="0" anchor="ctr"/>
          <a:lstStyle/>
          <a:p>
            <a:pPr indent="0" marL="0">
              <a:buNone/>
            </a:pPr>
            <a:r>
              <a:rPr lang="en-US" sz="1250" b="1" dirty="0">
                <a:solidFill>
                  <a:srgbClr val="3A4A5A"/>
                </a:solidFill>
                <a:latin typeface="Arial" pitchFamily="34" charset="0"/>
                <a:ea typeface="Arial" pitchFamily="34" charset="-122"/>
                <a:cs typeface="Arial" pitchFamily="34" charset="-120"/>
              </a:rPr>
              <a:t>€900</a:t>
            </a:r>
            <a:endParaRPr lang="en-US" sz="1250" dirty="0"/>
          </a:p>
        </p:txBody>
      </p:sp>
      <p:sp>
        <p:nvSpPr>
          <p:cNvPr id="8" name="Text 6"/>
          <p:cNvSpPr/>
          <p:nvPr/>
        </p:nvSpPr>
        <p:spPr>
          <a:xfrm>
            <a:off x="4297680" y="2194560"/>
            <a:ext cx="1280160" cy="548640"/>
          </a:xfrm>
          <a:prstGeom prst="rect">
            <a:avLst/>
          </a:prstGeom>
          <a:noFill/>
          <a:ln/>
        </p:spPr>
        <p:txBody>
          <a:bodyPr wrap="square" lIns="0" tIns="0" rIns="0" bIns="0" rtlCol="0" anchor="ctr"/>
          <a:lstStyle/>
          <a:p>
            <a:pPr algn="r" indent="0" marL="0">
              <a:buNone/>
            </a:pPr>
            <a:r>
              <a:rPr lang="en-US" sz="1250" dirty="0">
                <a:solidFill>
                  <a:srgbClr val="3A4A5A"/>
                </a:solidFill>
                <a:latin typeface="Arial" pitchFamily="34" charset="0"/>
                <a:ea typeface="Arial" pitchFamily="34" charset="-122"/>
                <a:cs typeface="Arial" pitchFamily="34" charset="-120"/>
              </a:rPr>
              <a:t>€639K</a:t>
            </a:r>
            <a:endParaRPr lang="en-US" sz="1250" dirty="0"/>
          </a:p>
        </p:txBody>
      </p:sp>
      <p:sp>
        <p:nvSpPr>
          <p:cNvPr id="9" name="Shape 7"/>
          <p:cNvSpPr/>
          <p:nvPr/>
        </p:nvSpPr>
        <p:spPr>
          <a:xfrm>
            <a:off x="548640" y="2743200"/>
            <a:ext cx="5120640" cy="548640"/>
          </a:xfrm>
          <a:prstGeom prst="rect">
            <a:avLst/>
          </a:prstGeom>
          <a:solidFill>
            <a:srgbClr val="E8F0FE"/>
          </a:solidFill>
          <a:ln w="12700">
            <a:solidFill>
              <a:srgbClr val="D6E0F0"/>
            </a:solidFill>
            <a:prstDash val="solid"/>
          </a:ln>
        </p:spPr>
      </p:sp>
      <p:sp>
        <p:nvSpPr>
          <p:cNvPr id="10" name="Text 8"/>
          <p:cNvSpPr/>
          <p:nvPr/>
        </p:nvSpPr>
        <p:spPr>
          <a:xfrm>
            <a:off x="685800" y="2743200"/>
            <a:ext cx="2194560" cy="548640"/>
          </a:xfrm>
          <a:prstGeom prst="rect">
            <a:avLst/>
          </a:prstGeom>
          <a:noFill/>
          <a:ln/>
        </p:spPr>
        <p:txBody>
          <a:bodyPr wrap="square" lIns="0" tIns="0" rIns="0" bIns="0" rtlCol="0" anchor="ctr"/>
          <a:lstStyle/>
          <a:p>
            <a:pPr indent="0" marL="0">
              <a:buNone/>
            </a:pPr>
            <a:r>
              <a:rPr lang="en-US" sz="1250" b="1" dirty="0">
                <a:solidFill>
                  <a:srgbClr val="1A2B3C"/>
                </a:solidFill>
                <a:latin typeface="Arial" pitchFamily="34" charset="0"/>
                <a:ea typeface="Arial" pitchFamily="34" charset="-122"/>
                <a:cs typeface="Arial" pitchFamily="34" charset="-120"/>
              </a:rPr>
              <a:t>Target</a:t>
            </a:r>
            <a:endParaRPr lang="en-US" sz="1250" dirty="0"/>
          </a:p>
        </p:txBody>
      </p:sp>
      <p:sp>
        <p:nvSpPr>
          <p:cNvPr id="11" name="Text 9"/>
          <p:cNvSpPr/>
          <p:nvPr/>
        </p:nvSpPr>
        <p:spPr>
          <a:xfrm>
            <a:off x="2834640" y="2743200"/>
            <a:ext cx="1463040" cy="548640"/>
          </a:xfrm>
          <a:prstGeom prst="rect">
            <a:avLst/>
          </a:prstGeom>
          <a:noFill/>
          <a:ln/>
        </p:spPr>
        <p:txBody>
          <a:bodyPr wrap="square" lIns="0" tIns="0" rIns="0" bIns="0" rtlCol="0" anchor="ctr"/>
          <a:lstStyle/>
          <a:p>
            <a:pPr indent="0" marL="0">
              <a:buNone/>
            </a:pPr>
            <a:r>
              <a:rPr lang="en-US" sz="1250" b="1" dirty="0">
                <a:solidFill>
                  <a:srgbClr val="2F6FED"/>
                </a:solidFill>
                <a:latin typeface="Arial" pitchFamily="34" charset="0"/>
                <a:ea typeface="Arial" pitchFamily="34" charset="-122"/>
                <a:cs typeface="Arial" pitchFamily="34" charset="-120"/>
              </a:rPr>
              <a:t>€1,000</a:t>
            </a:r>
            <a:endParaRPr lang="en-US" sz="1250" dirty="0"/>
          </a:p>
        </p:txBody>
      </p:sp>
      <p:sp>
        <p:nvSpPr>
          <p:cNvPr id="12" name="Text 10"/>
          <p:cNvSpPr/>
          <p:nvPr/>
        </p:nvSpPr>
        <p:spPr>
          <a:xfrm>
            <a:off x="4297680" y="2743200"/>
            <a:ext cx="1280160" cy="548640"/>
          </a:xfrm>
          <a:prstGeom prst="rect">
            <a:avLst/>
          </a:prstGeom>
          <a:noFill/>
          <a:ln/>
        </p:spPr>
        <p:txBody>
          <a:bodyPr wrap="square" lIns="0" tIns="0" rIns="0" bIns="0" rtlCol="0" anchor="ctr"/>
          <a:lstStyle/>
          <a:p>
            <a:pPr algn="r" indent="0" marL="0">
              <a:buNone/>
            </a:pPr>
            <a:r>
              <a:rPr lang="en-US" sz="1250" dirty="0">
                <a:solidFill>
                  <a:srgbClr val="3A4A5A"/>
                </a:solidFill>
                <a:latin typeface="Arial" pitchFamily="34" charset="0"/>
                <a:ea typeface="Arial" pitchFamily="34" charset="-122"/>
                <a:cs typeface="Arial" pitchFamily="34" charset="-120"/>
              </a:rPr>
              <a:t>€710K</a:t>
            </a:r>
            <a:endParaRPr lang="en-US" sz="1250" dirty="0"/>
          </a:p>
        </p:txBody>
      </p:sp>
      <p:sp>
        <p:nvSpPr>
          <p:cNvPr id="13" name="Shape 11"/>
          <p:cNvSpPr/>
          <p:nvPr/>
        </p:nvSpPr>
        <p:spPr>
          <a:xfrm>
            <a:off x="548640" y="3291840"/>
            <a:ext cx="5120640" cy="548640"/>
          </a:xfrm>
          <a:prstGeom prst="rect">
            <a:avLst/>
          </a:prstGeom>
          <a:solidFill>
            <a:srgbClr val="FFFFFF"/>
          </a:solidFill>
          <a:ln w="12700">
            <a:solidFill>
              <a:srgbClr val="D6E0F0"/>
            </a:solidFill>
            <a:prstDash val="solid"/>
          </a:ln>
        </p:spPr>
      </p:sp>
      <p:sp>
        <p:nvSpPr>
          <p:cNvPr id="14" name="Text 12"/>
          <p:cNvSpPr/>
          <p:nvPr/>
        </p:nvSpPr>
        <p:spPr>
          <a:xfrm>
            <a:off x="685800" y="3291840"/>
            <a:ext cx="2194560" cy="548640"/>
          </a:xfrm>
          <a:prstGeom prst="rect">
            <a:avLst/>
          </a:prstGeom>
          <a:noFill/>
          <a:ln/>
        </p:spPr>
        <p:txBody>
          <a:bodyPr wrap="square" lIns="0" tIns="0" rIns="0" bIns="0" rtlCol="0" anchor="ctr"/>
          <a:lstStyle/>
          <a:p>
            <a:pPr indent="0" marL="0">
              <a:buNone/>
            </a:pPr>
            <a:r>
              <a:rPr lang="en-US" sz="1250" dirty="0">
                <a:solidFill>
                  <a:srgbClr val="1A2B3C"/>
                </a:solidFill>
                <a:latin typeface="Arial" pitchFamily="34" charset="0"/>
                <a:ea typeface="Arial" pitchFamily="34" charset="-122"/>
                <a:cs typeface="Arial" pitchFamily="34" charset="-120"/>
              </a:rPr>
              <a:t>Walk-away</a:t>
            </a:r>
            <a:endParaRPr lang="en-US" sz="1250" dirty="0"/>
          </a:p>
        </p:txBody>
      </p:sp>
      <p:sp>
        <p:nvSpPr>
          <p:cNvPr id="15" name="Text 13"/>
          <p:cNvSpPr/>
          <p:nvPr/>
        </p:nvSpPr>
        <p:spPr>
          <a:xfrm>
            <a:off x="2834640" y="3291840"/>
            <a:ext cx="1463040" cy="548640"/>
          </a:xfrm>
          <a:prstGeom prst="rect">
            <a:avLst/>
          </a:prstGeom>
          <a:noFill/>
          <a:ln/>
        </p:spPr>
        <p:txBody>
          <a:bodyPr wrap="square" lIns="0" tIns="0" rIns="0" bIns="0" rtlCol="0" anchor="ctr"/>
          <a:lstStyle/>
          <a:p>
            <a:pPr indent="0" marL="0">
              <a:buNone/>
            </a:pPr>
            <a:r>
              <a:rPr lang="en-US" sz="1250" b="1" dirty="0">
                <a:solidFill>
                  <a:srgbClr val="3A4A5A"/>
                </a:solidFill>
                <a:latin typeface="Arial" pitchFamily="34" charset="0"/>
                <a:ea typeface="Arial" pitchFamily="34" charset="-122"/>
                <a:cs typeface="Arial" pitchFamily="34" charset="-120"/>
              </a:rPr>
              <a:t>€1,100</a:t>
            </a:r>
            <a:endParaRPr lang="en-US" sz="1250" dirty="0"/>
          </a:p>
        </p:txBody>
      </p:sp>
      <p:sp>
        <p:nvSpPr>
          <p:cNvPr id="16" name="Text 14"/>
          <p:cNvSpPr/>
          <p:nvPr/>
        </p:nvSpPr>
        <p:spPr>
          <a:xfrm>
            <a:off x="4297680" y="3291840"/>
            <a:ext cx="1280160" cy="548640"/>
          </a:xfrm>
          <a:prstGeom prst="rect">
            <a:avLst/>
          </a:prstGeom>
          <a:noFill/>
          <a:ln/>
        </p:spPr>
        <p:txBody>
          <a:bodyPr wrap="square" lIns="0" tIns="0" rIns="0" bIns="0" rtlCol="0" anchor="ctr"/>
          <a:lstStyle/>
          <a:p>
            <a:pPr algn="r" indent="0" marL="0">
              <a:buNone/>
            </a:pPr>
            <a:r>
              <a:rPr lang="en-US" sz="1250" dirty="0">
                <a:solidFill>
                  <a:srgbClr val="3A4A5A"/>
                </a:solidFill>
                <a:latin typeface="Arial" pitchFamily="34" charset="0"/>
                <a:ea typeface="Arial" pitchFamily="34" charset="-122"/>
                <a:cs typeface="Arial" pitchFamily="34" charset="-120"/>
              </a:rPr>
              <a:t>€781K</a:t>
            </a:r>
            <a:endParaRPr lang="en-US" sz="1250" dirty="0"/>
          </a:p>
        </p:txBody>
      </p:sp>
      <p:sp>
        <p:nvSpPr>
          <p:cNvPr id="17" name="Text 15"/>
          <p:cNvSpPr/>
          <p:nvPr/>
        </p:nvSpPr>
        <p:spPr>
          <a:xfrm>
            <a:off x="548640" y="4114800"/>
            <a:ext cx="5120640" cy="822960"/>
          </a:xfrm>
          <a:prstGeom prst="rect">
            <a:avLst/>
          </a:prstGeom>
          <a:noFill/>
          <a:ln/>
        </p:spPr>
        <p:txBody>
          <a:bodyPr wrap="square" lIns="0" tIns="0" rIns="0" bIns="0" rtlCol="0" anchor="ctr"/>
          <a:lstStyle/>
          <a:p>
            <a:pPr indent="0" marL="0">
              <a:lnSpc>
                <a:spcPct val="115000"/>
              </a:lnSpc>
              <a:buNone/>
            </a:pPr>
            <a:r>
              <a:rPr lang="en-US" sz="1150" i="1" dirty="0">
                <a:solidFill>
                  <a:srgbClr val="3A4A5A"/>
                </a:solidFill>
                <a:latin typeface="Arial" pitchFamily="34" charset="0"/>
                <a:ea typeface="Arial" pitchFamily="34" charset="-122"/>
                <a:cs typeface="Arial" pitchFamily="34" charset="-120"/>
              </a:rPr>
              <a:t>BATNA: standardise on Monday.com instead. Real, second-best, and Asana does not need to know how much I prefer them.</a:t>
            </a:r>
            <a:endParaRPr lang="en-US" sz="1150" dirty="0"/>
          </a:p>
        </p:txBody>
      </p:sp>
      <p:sp>
        <p:nvSpPr>
          <p:cNvPr id="18" name="Text 16"/>
          <p:cNvSpPr/>
          <p:nvPr/>
        </p:nvSpPr>
        <p:spPr>
          <a:xfrm>
            <a:off x="6035040" y="1783080"/>
            <a:ext cx="5577840" cy="320040"/>
          </a:xfrm>
          <a:prstGeom prst="rect">
            <a:avLst/>
          </a:prstGeom>
          <a:noFill/>
          <a:ln/>
        </p:spPr>
        <p:txBody>
          <a:bodyPr wrap="square" lIns="0" tIns="0" rIns="0" bIns="0" rtlCol="0" anchor="ctr"/>
          <a:lstStyle/>
          <a:p>
            <a:pPr indent="0" marL="0">
              <a:buNone/>
            </a:pPr>
            <a:r>
              <a:rPr lang="en-US" sz="1300" b="1" dirty="0">
                <a:solidFill>
                  <a:srgbClr val="1A2B3C"/>
                </a:solidFill>
                <a:latin typeface="Arial" pitchFamily="34" charset="0"/>
                <a:ea typeface="Arial" pitchFamily="34" charset="-122"/>
                <a:cs typeface="Arial" pitchFamily="34" charset="-120"/>
              </a:rPr>
              <a:t>I trade, I never give</a:t>
            </a:r>
            <a:endParaRPr lang="en-US" sz="1300" dirty="0"/>
          </a:p>
        </p:txBody>
      </p:sp>
      <p:sp>
        <p:nvSpPr>
          <p:cNvPr id="19" name="Text 17"/>
          <p:cNvSpPr/>
          <p:nvPr/>
        </p:nvSpPr>
        <p:spPr>
          <a:xfrm>
            <a:off x="6035040" y="2194560"/>
            <a:ext cx="5577840" cy="1371600"/>
          </a:xfrm>
          <a:prstGeom prst="rect">
            <a:avLst/>
          </a:prstGeom>
          <a:noFill/>
          <a:ln/>
        </p:spPr>
        <p:txBody>
          <a:bodyPr wrap="square" lIns="0" tIns="0" rIns="0" bIns="0" rtlCol="0" anchor="ctr"/>
          <a:lstStyle/>
          <a:p>
            <a:pPr indent="0" marL="0">
              <a:lnSpc>
                <a:spcPct val="125000"/>
              </a:lnSpc>
              <a:buNone/>
            </a:pPr>
            <a:r>
              <a:rPr lang="en-US" sz="1200" b="1" dirty="0">
                <a:solidFill>
                  <a:srgbClr val="1A2B3C"/>
                </a:solidFill>
                <a:latin typeface="Arial" pitchFamily="34" charset="0"/>
                <a:ea typeface="Arial" pitchFamily="34" charset="-122"/>
                <a:cs typeface="Arial" pitchFamily="34" charset="-120"/>
              </a:rPr>
              <a:t>Give (cheap to me): </a:t>
            </a:r>
            <a:pPr indent="0" marL="0">
              <a:lnSpc>
                <a:spcPct val="125000"/>
              </a:lnSpc>
              <a:buNone/>
            </a:pPr>
            <a:r>
              <a:rPr lang="en-US" sz="1200" dirty="0">
                <a:solidFill>
                  <a:srgbClr val="3A4A5A"/>
                </a:solidFill>
                <a:latin typeface="Arial" pitchFamily="34" charset="0"/>
                <a:ea typeface="Arial" pitchFamily="34" charset="-122"/>
                <a:cs typeface="Arial" pitchFamily="34" charset="-120"/>
              </a:rPr>
              <a:t>3-year term · reference rights · upfront payment · seat floor
</a:t>
            </a:r>
            <a:pPr indent="0" marL="0">
              <a:lnSpc>
                <a:spcPct val="125000"/>
              </a:lnSpc>
              <a:buNone/>
            </a:pPr>
            <a:r>
              <a:rPr lang="en-US" sz="1200" b="1" dirty="0">
                <a:solidFill>
                  <a:srgbClr val="1A2B3C"/>
                </a:solidFill>
                <a:latin typeface="Arial" pitchFamily="34" charset="0"/>
                <a:ea typeface="Arial" pitchFamily="34" charset="-122"/>
                <a:cs typeface="Arial" pitchFamily="34" charset="-120"/>
              </a:rPr>
              <a:t>Take (what I want): </a:t>
            </a:r>
            <a:pPr indent="0" marL="0">
              <a:lnSpc>
                <a:spcPct val="125000"/>
              </a:lnSpc>
              <a:buNone/>
            </a:pPr>
            <a:r>
              <a:rPr lang="en-US" sz="1200" dirty="0">
                <a:solidFill>
                  <a:srgbClr val="3A4A5A"/>
                </a:solidFill>
                <a:latin typeface="Arial" pitchFamily="34" charset="0"/>
                <a:ea typeface="Arial" pitchFamily="34" charset="-122"/>
                <a:cs typeface="Arial" pitchFamily="34" charset="-120"/>
              </a:rPr>
              <a:t>rate at target · named CSM · bundled training · sandbox · uptime SLA with credits</a:t>
            </a:r>
            <a:endParaRPr lang="en-US" sz="1200" dirty="0"/>
          </a:p>
        </p:txBody>
      </p:sp>
      <p:sp>
        <p:nvSpPr>
          <p:cNvPr id="20" name="Shape 18"/>
          <p:cNvSpPr/>
          <p:nvPr/>
        </p:nvSpPr>
        <p:spPr>
          <a:xfrm>
            <a:off x="6035040" y="3657600"/>
            <a:ext cx="5577840" cy="1280160"/>
          </a:xfrm>
          <a:prstGeom prst="roundRect">
            <a:avLst>
              <a:gd name="adj" fmla="val 4286"/>
            </a:avLst>
          </a:prstGeom>
          <a:solidFill>
            <a:srgbClr val="1A2B3C"/>
          </a:solidFill>
          <a:ln/>
        </p:spPr>
      </p:sp>
      <p:sp>
        <p:nvSpPr>
          <p:cNvPr id="21" name="Text 19"/>
          <p:cNvSpPr/>
          <p:nvPr/>
        </p:nvSpPr>
        <p:spPr>
          <a:xfrm>
            <a:off x="6263640" y="3840480"/>
            <a:ext cx="5120640" cy="320040"/>
          </a:xfrm>
          <a:prstGeom prst="rect">
            <a:avLst/>
          </a:prstGeom>
          <a:noFill/>
          <a:ln/>
        </p:spPr>
        <p:txBody>
          <a:bodyPr wrap="square" lIns="0" tIns="0" rIns="0" bIns="0" rtlCol="0" anchor="ctr"/>
          <a:lstStyle/>
          <a:p>
            <a:pPr indent="0" marL="0">
              <a:buNone/>
            </a:pPr>
            <a:r>
              <a:rPr lang="en-US" sz="1300" b="1" dirty="0">
                <a:solidFill>
                  <a:srgbClr val="9FB4D8"/>
                </a:solidFill>
                <a:latin typeface="Arial" pitchFamily="34" charset="0"/>
                <a:ea typeface="Arial" pitchFamily="34" charset="-122"/>
                <a:cs typeface="Arial" pitchFamily="34" charset="-120"/>
              </a:rPr>
              <a:t>The one clause I will not give up</a:t>
            </a:r>
            <a:endParaRPr lang="en-US" sz="1300" dirty="0"/>
          </a:p>
        </p:txBody>
      </p:sp>
      <p:sp>
        <p:nvSpPr>
          <p:cNvPr id="22" name="Text 20"/>
          <p:cNvSpPr/>
          <p:nvPr/>
        </p:nvSpPr>
        <p:spPr>
          <a:xfrm>
            <a:off x="6263640" y="4206240"/>
            <a:ext cx="5166360" cy="685800"/>
          </a:xfrm>
          <a:prstGeom prst="rect">
            <a:avLst/>
          </a:prstGeom>
          <a:noFill/>
          <a:ln/>
        </p:spPr>
        <p:txBody>
          <a:bodyPr wrap="square" lIns="0" tIns="0" rIns="0" bIns="0" rtlCol="0" anchor="ctr"/>
          <a:lstStyle/>
          <a:p>
            <a:pPr indent="0" marL="0">
              <a:lnSpc>
                <a:spcPct val="115000"/>
              </a:lnSpc>
              <a:buNone/>
            </a:pPr>
            <a:r>
              <a:rPr lang="en-US" sz="1150" dirty="0">
                <a:solidFill>
                  <a:srgbClr val="D6E0F0"/>
                </a:solidFill>
                <a:latin typeface="Arial" pitchFamily="34" charset="0"/>
                <a:ea typeface="Arial" pitchFamily="34" charset="-122"/>
                <a:cs typeface="Arial" pitchFamily="34" charset="-120"/>
              </a:rPr>
              <a:t>A flex-down clause: the right to reduce seats each year within a band. Everything else is money. This clause is governance. It is the difference between fixing the idle-licence problem once and fixing it every year.</a:t>
            </a:r>
            <a:endParaRPr lang="en-US" sz="1150" dirty="0"/>
          </a:p>
        </p:txBody>
      </p:sp>
      <p:sp>
        <p:nvSpPr>
          <p:cNvPr id="23" name="Text 21"/>
          <p:cNvSpPr/>
          <p:nvPr/>
        </p:nvSpPr>
        <p:spPr>
          <a:xfrm>
            <a:off x="548640" y="5532120"/>
            <a:ext cx="11064240" cy="548640"/>
          </a:xfrm>
          <a:prstGeom prst="rect">
            <a:avLst/>
          </a:prstGeom>
          <a:noFill/>
          <a:ln/>
        </p:spPr>
        <p:txBody>
          <a:bodyPr wrap="square" lIns="0" tIns="0" rIns="0" bIns="0" rtlCol="0" anchor="ctr"/>
          <a:lstStyle/>
          <a:p>
            <a:pPr indent="0" marL="0">
              <a:buNone/>
            </a:pPr>
            <a:r>
              <a:rPr lang="en-US" sz="1100" i="1" dirty="0">
                <a:solidFill>
                  <a:srgbClr val="8A9BAB"/>
                </a:solidFill>
                <a:latin typeface="Arial" pitchFamily="34" charset="0"/>
                <a:ea typeface="Arial" pitchFamily="34" charset="-122"/>
                <a:cs typeface="Arial" pitchFamily="34" charset="-120"/>
              </a:rPr>
              <a:t>Modelled, not quoted: the €1,000 target is reasoned from list price and deal shape. A live negotiation settles the exact number; the structure holds regardless.</a:t>
            </a:r>
            <a:endParaRPr lang="en-US" sz="110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BAB"/>
                </a:solidFill>
                <a:latin typeface="Arial" pitchFamily="34" charset="0"/>
                <a:ea typeface="Arial" pitchFamily="34" charset="-122"/>
                <a:cs typeface="Arial" pitchFamily="34" charset="-120"/>
              </a:rPr>
              <a:t>Meridian Mobility  ·  SaaS consolidation</a:t>
            </a:r>
            <a:endParaRPr lang="en-US" sz="900" dirty="0"/>
          </a:p>
        </p:txBody>
      </p:sp>
      <p:sp>
        <p:nvSpPr>
          <p:cNvPr id="25" name="Text 23"/>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A9BA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rtlCol="0" anchor="ctr"/>
          <a:lstStyle/>
          <a:p>
            <a:pPr indent="0" marL="0">
              <a:buNone/>
            </a:pPr>
            <a:r>
              <a:rPr lang="en-US" sz="1200" b="1" spc="200" kern="0" dirty="0">
                <a:solidFill>
                  <a:srgbClr val="2F6FED"/>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2600" b="1" dirty="0">
                <a:solidFill>
                  <a:srgbClr val="1A2B3C"/>
                </a:solidFill>
                <a:latin typeface="Arial" pitchFamily="34" charset="0"/>
                <a:ea typeface="Arial" pitchFamily="34" charset="-122"/>
                <a:cs typeface="Arial" pitchFamily="34" charset="-120"/>
              </a:rPr>
              <a:t>Numbers, assumptions and the parts I am least sure of</a:t>
            </a:r>
            <a:endParaRPr lang="en-US" sz="2600" dirty="0"/>
          </a:p>
        </p:txBody>
      </p:sp>
      <p:sp>
        <p:nvSpPr>
          <p:cNvPr id="4" name="Text 2"/>
          <p:cNvSpPr/>
          <p:nvPr/>
        </p:nvSpPr>
        <p:spPr>
          <a:xfrm>
            <a:off x="548640" y="1737360"/>
            <a:ext cx="5486400" cy="274320"/>
          </a:xfrm>
          <a:prstGeom prst="rect">
            <a:avLst/>
          </a:prstGeom>
          <a:noFill/>
          <a:ln/>
        </p:spPr>
        <p:txBody>
          <a:bodyPr wrap="square" lIns="0" tIns="0" rIns="0" bIns="0" rtlCol="0" anchor="ctr"/>
          <a:lstStyle/>
          <a:p>
            <a:pPr indent="0" marL="0">
              <a:buNone/>
            </a:pPr>
            <a:r>
              <a:rPr lang="en-US" sz="1300" b="1" dirty="0">
                <a:solidFill>
                  <a:srgbClr val="1A2B3C"/>
                </a:solidFill>
                <a:latin typeface="Arial" pitchFamily="34" charset="0"/>
                <a:ea typeface="Arial" pitchFamily="34" charset="-122"/>
                <a:cs typeface="Arial" pitchFamily="34" charset="-120"/>
              </a:rPr>
              <a:t>Current vs end state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5760720" cy="914400"/>
        </p:xfrm>
        <a:graphic>
          <a:graphicData uri="http://schemas.openxmlformats.org/drawingml/2006/table">
            <a:tbl>
              <a:tblPr/>
              <a:tblGrid>
                <a:gridCol w="1463040"/>
                <a:gridCol w="1280160"/>
                <a:gridCol w="1280160"/>
                <a:gridCol w="1737360"/>
              </a:tblGrid>
              <a:tr h="38404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Vendor</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solidFill>
                      <a:srgbClr val="1A2B3C"/>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Current</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solidFill>
                      <a:srgbClr val="1A2B3C"/>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End state</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solidFill>
                      <a:srgbClr val="1A2B3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Move</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solidFill>
                      <a:srgbClr val="1A2B3C"/>
                    </a:solidFill>
                  </a:tcPr>
                </a:tc>
              </a:tr>
              <a:tr h="384048">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Jira</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€1,050K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€1,050K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Keep, audit at renewal</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r>
              <a:tr h="384048">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Asana</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€780K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€710K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710 seats @ €1,000</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r>
              <a:tr h="384048">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Monday.com</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€420K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Retire</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r>
              <a:tr h="384048">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Trello</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€120K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dirty="0">
                          <a:solidFill>
                            <a:srgbClr val="3A4A5A"/>
                          </a:solidFill>
                          <a:latin typeface="Arial" pitchFamily="34" charset="0"/>
                          <a:ea typeface="Arial" pitchFamily="34" charset="-122"/>
                          <a:cs typeface="Arial" pitchFamily="34" charset="-120"/>
                        </a:rPr>
                        <a:t>Retire</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r>
              <a:tr h="384048">
                <a:tc>
                  <a:txBody>
                    <a:bodyPr/>
                    <a:lstStyle/>
                    <a:p>
                      <a:pPr algn="l" indent="0" marL="0">
                        <a:buNone/>
                      </a:pPr>
                      <a:r>
                        <a:rPr lang="en-US" sz="1100" b="1" dirty="0">
                          <a:solidFill>
                            <a:srgbClr val="3A4A5A"/>
                          </a:solidFill>
                          <a:latin typeface="Arial" pitchFamily="34" charset="0"/>
                          <a:ea typeface="Arial" pitchFamily="34" charset="-122"/>
                          <a:cs typeface="Arial" pitchFamily="34" charset="-120"/>
                        </a:rPr>
                        <a:t>Total</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r" indent="0" marL="0">
                        <a:buNone/>
                      </a:pPr>
                      <a:r>
                        <a:rPr lang="en-US" sz="1100" b="1" dirty="0">
                          <a:solidFill>
                            <a:srgbClr val="3A4A5A"/>
                          </a:solidFill>
                          <a:latin typeface="Arial" pitchFamily="34" charset="0"/>
                          <a:ea typeface="Arial" pitchFamily="34" charset="-122"/>
                          <a:cs typeface="Arial" pitchFamily="34" charset="-120"/>
                        </a:rPr>
                        <a:t>€2,370K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r" indent="0" marL="0">
                        <a:buNone/>
                      </a:pPr>
                      <a:r>
                        <a:rPr lang="en-US" sz="1100" b="1" dirty="0">
                          <a:solidFill>
                            <a:srgbClr val="3A4A5A"/>
                          </a:solidFill>
                          <a:latin typeface="Arial" pitchFamily="34" charset="0"/>
                          <a:ea typeface="Arial" pitchFamily="34" charset="-122"/>
                          <a:cs typeface="Arial" pitchFamily="34" charset="-120"/>
                        </a:rPr>
                        <a:t>€1,760K</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c>
                  <a:txBody>
                    <a:bodyPr/>
                    <a:lstStyle/>
                    <a:p>
                      <a:pPr algn="l" indent="0" marL="0">
                        <a:buNone/>
                      </a:pPr>
                      <a:r>
                        <a:rPr lang="en-US" sz="1100" b="1" dirty="0">
                          <a:solidFill>
                            <a:srgbClr val="2F6FED"/>
                          </a:solidFill>
                          <a:latin typeface="Arial" pitchFamily="34" charset="0"/>
                          <a:ea typeface="Arial" pitchFamily="34" charset="-122"/>
                          <a:cs typeface="Arial" pitchFamily="34" charset="-120"/>
                        </a:rPr>
                        <a:t>−€610K / yr</a:t>
                      </a:r>
                      <a:endParaRPr lang="en-US" sz="1100" dirty="0">
                        <a:latin typeface="Arial" charset="0"/>
                        <a:ea typeface="Arial" charset="0"/>
                        <a:cs typeface="Arial" charset="0"/>
                      </a:endParaRPr>
                    </a:p>
                  </a:txBody>
                  <a:tcPr marL="91440" marR="91440" marT="45720" marB="45720" anchor="ctr">
                    <a:lnL w="12700" cap="flat" cmpd="sng" algn="ctr">
                      <a:solidFill>
                        <a:srgbClr val="D6E0F0"/>
                      </a:solidFill>
                      <a:prstDash val="solid"/>
                      <a:round/>
                      <a:headEnd type="none" w="med" len="med"/>
                      <a:tailEnd type="none" w="med" len="med"/>
                    </a:lnL>
                    <a:lnR w="12700" cap="flat" cmpd="sng" algn="ctr">
                      <a:solidFill>
                        <a:srgbClr val="D6E0F0"/>
                      </a:solidFill>
                      <a:prstDash val="solid"/>
                      <a:round/>
                      <a:headEnd type="none" w="med" len="med"/>
                      <a:tailEnd type="none" w="med" len="med"/>
                    </a:lnR>
                    <a:lnT w="12700" cap="flat" cmpd="sng" algn="ctr">
                      <a:solidFill>
                        <a:srgbClr val="D6E0F0"/>
                      </a:solidFill>
                      <a:prstDash val="solid"/>
                      <a:round/>
                      <a:headEnd type="none" w="med" len="med"/>
                      <a:tailEnd type="none" w="med" len="med"/>
                    </a:lnT>
                    <a:lnB w="12700" cap="flat" cmpd="sng" algn="ctr">
                      <a:solidFill>
                        <a:srgbClr val="D6E0F0"/>
                      </a:solidFill>
                      <a:prstDash val="solid"/>
                      <a:round/>
                      <a:headEnd type="none" w="med" len="med"/>
                      <a:tailEnd type="none" w="med" len="med"/>
                    </a:lnB>
                  </a:tcPr>
                </a:tc>
              </a:tr>
            </a:tbl>
          </a:graphicData>
        </a:graphic>
      </p:graphicFrame>
      <p:sp>
        <p:nvSpPr>
          <p:cNvPr id="6" name="Text 3"/>
          <p:cNvSpPr/>
          <p:nvPr/>
        </p:nvSpPr>
        <p:spPr>
          <a:xfrm>
            <a:off x="6675120" y="1737360"/>
            <a:ext cx="4937760" cy="274320"/>
          </a:xfrm>
          <a:prstGeom prst="rect">
            <a:avLst/>
          </a:prstGeom>
          <a:noFill/>
          <a:ln/>
        </p:spPr>
        <p:txBody>
          <a:bodyPr wrap="square" lIns="0" tIns="0" rIns="0" bIns="0" rtlCol="0" anchor="ctr"/>
          <a:lstStyle/>
          <a:p>
            <a:pPr indent="0" marL="0">
              <a:buNone/>
            </a:pPr>
            <a:r>
              <a:rPr lang="en-US" sz="1300" b="1" dirty="0">
                <a:solidFill>
                  <a:srgbClr val="1A2B3C"/>
                </a:solidFill>
                <a:latin typeface="Arial" pitchFamily="34" charset="0"/>
                <a:ea typeface="Arial" pitchFamily="34" charset="-122"/>
                <a:cs typeface="Arial" pitchFamily="34" charset="-120"/>
              </a:rPr>
              <a:t>Key assumptions</a:t>
            </a:r>
            <a:endParaRPr lang="en-US" sz="1300" dirty="0"/>
          </a:p>
        </p:txBody>
      </p:sp>
      <p:sp>
        <p:nvSpPr>
          <p:cNvPr id="7" name="Text 4"/>
          <p:cNvSpPr/>
          <p:nvPr/>
        </p:nvSpPr>
        <p:spPr>
          <a:xfrm>
            <a:off x="6675120" y="2057400"/>
            <a:ext cx="4937760" cy="1828800"/>
          </a:xfrm>
          <a:prstGeom prst="rect">
            <a:avLst/>
          </a:prstGeom>
          <a:noFill/>
          <a:ln/>
        </p:spPr>
        <p:txBody>
          <a:bodyPr wrap="square" lIns="0" tIns="0" rIns="0" bIns="0" rtlCol="0" anchor="ctr"/>
          <a:lstStyle/>
          <a:p>
            <a:pPr indent="0" marL="0">
              <a:lnSpc>
                <a:spcPct val="125000"/>
              </a:lnSpc>
              <a:buNone/>
            </a:pPr>
            <a:r>
              <a:rPr lang="en-US" sz="1150" dirty="0">
                <a:solidFill>
                  <a:srgbClr val="3A4A5A"/>
                </a:solidFill>
                <a:latin typeface="Arial" pitchFamily="34" charset="0"/>
                <a:ea typeface="Arial" pitchFamily="34" charset="-122"/>
                <a:cs typeface="Arial" pitchFamily="34" charset="-120"/>
              </a:rPr>
              <a:t>• End-state Asana = 510 retained + 200 net-new migrated seats = 710.
</a:t>
            </a:r>
            <a:pPr indent="0" marL="0">
              <a:lnSpc>
                <a:spcPct val="125000"/>
              </a:lnSpc>
              <a:buNone/>
            </a:pPr>
            <a:r>
              <a:rPr lang="en-US" sz="1150" dirty="0">
                <a:solidFill>
                  <a:srgbClr val="3A4A5A"/>
                </a:solidFill>
                <a:latin typeface="Arial" pitchFamily="34" charset="0"/>
                <a:ea typeface="Arial" pitchFamily="34" charset="-122"/>
                <a:cs typeface="Arial" pitchFamily="34" charset="-120"/>
              </a:rPr>
              <a:t>• Negotiated rate €1,000/seat vs €1,200 list (modelled).
</a:t>
            </a:r>
            <a:pPr indent="0" marL="0">
              <a:lnSpc>
                <a:spcPct val="125000"/>
              </a:lnSpc>
              <a:buNone/>
            </a:pPr>
            <a:r>
              <a:rPr lang="en-US" sz="1150" dirty="0">
                <a:solidFill>
                  <a:srgbClr val="3A4A5A"/>
                </a:solidFill>
                <a:latin typeface="Arial" pitchFamily="34" charset="0"/>
                <a:ea typeface="Arial" pitchFamily="34" charset="-122"/>
                <a:cs typeface="Arial" pitchFamily="34" charset="-120"/>
              </a:rPr>
              <a:t>• Jira held flat: brief gives no active-user count, so no cut claimed.
</a:t>
            </a:r>
            <a:pPr indent="0" marL="0">
              <a:lnSpc>
                <a:spcPct val="125000"/>
              </a:lnSpc>
              <a:buNone/>
            </a:pPr>
            <a:r>
              <a:rPr lang="en-US" sz="1150" dirty="0">
                <a:solidFill>
                  <a:srgbClr val="3A4A5A"/>
                </a:solidFill>
                <a:latin typeface="Arial" pitchFamily="34" charset="0"/>
                <a:ea typeface="Arial" pitchFamily="34" charset="-122"/>
                <a:cs typeface="Arial" pitchFamily="34" charset="-120"/>
              </a:rPr>
              <a:t>• No double count: migrated seats priced at negotiated rate, so the rate cut applies only to retained seats.</a:t>
            </a:r>
            <a:endParaRPr lang="en-US" sz="1150" dirty="0"/>
          </a:p>
        </p:txBody>
      </p:sp>
      <p:sp>
        <p:nvSpPr>
          <p:cNvPr id="8" name="Shape 5"/>
          <p:cNvSpPr/>
          <p:nvPr/>
        </p:nvSpPr>
        <p:spPr>
          <a:xfrm>
            <a:off x="548640" y="4343400"/>
            <a:ext cx="11064240" cy="1554480"/>
          </a:xfrm>
          <a:prstGeom prst="roundRect">
            <a:avLst>
              <a:gd name="adj" fmla="val 3529"/>
            </a:avLst>
          </a:prstGeom>
          <a:solidFill>
            <a:srgbClr val="FBF3EF"/>
          </a:solidFill>
          <a:ln w="12700">
            <a:solidFill>
              <a:srgbClr val="E4C4B8"/>
            </a:solidFill>
            <a:prstDash val="solid"/>
          </a:ln>
        </p:spPr>
      </p:sp>
      <p:sp>
        <p:nvSpPr>
          <p:cNvPr id="9" name="Text 6"/>
          <p:cNvSpPr/>
          <p:nvPr/>
        </p:nvSpPr>
        <p:spPr>
          <a:xfrm>
            <a:off x="777240" y="4480560"/>
            <a:ext cx="10607040" cy="320040"/>
          </a:xfrm>
          <a:prstGeom prst="rect">
            <a:avLst/>
          </a:prstGeom>
          <a:noFill/>
          <a:ln/>
        </p:spPr>
        <p:txBody>
          <a:bodyPr wrap="square" lIns="0" tIns="0" rIns="0" bIns="0" rtlCol="0" anchor="ctr"/>
          <a:lstStyle/>
          <a:p>
            <a:pPr indent="0" marL="0">
              <a:buNone/>
            </a:pPr>
            <a:r>
              <a:rPr lang="en-US" sz="1300" b="1" dirty="0">
                <a:solidFill>
                  <a:srgbClr val="C0563B"/>
                </a:solidFill>
                <a:latin typeface="Arial" pitchFamily="34" charset="0"/>
                <a:ea typeface="Arial" pitchFamily="34" charset="-122"/>
                <a:cs typeface="Arial" pitchFamily="34" charset="-120"/>
              </a:rPr>
              <a:t>The numbers I trust least, in order</a:t>
            </a:r>
            <a:endParaRPr lang="en-US" sz="1300" dirty="0"/>
          </a:p>
        </p:txBody>
      </p:sp>
      <p:sp>
        <p:nvSpPr>
          <p:cNvPr id="10" name="Text 7"/>
          <p:cNvSpPr/>
          <p:nvPr/>
        </p:nvSpPr>
        <p:spPr>
          <a:xfrm>
            <a:off x="777240" y="4846320"/>
            <a:ext cx="10607040" cy="914400"/>
          </a:xfrm>
          <a:prstGeom prst="rect">
            <a:avLst/>
          </a:prstGeom>
          <a:noFill/>
          <a:ln/>
        </p:spPr>
        <p:txBody>
          <a:bodyPr wrap="square" lIns="0" tIns="0" rIns="0" bIns="0" rtlCol="0" anchor="ctr"/>
          <a:lstStyle/>
          <a:p>
            <a:pPr indent="0" marL="0">
              <a:lnSpc>
                <a:spcPct val="120000"/>
              </a:lnSpc>
              <a:buNone/>
            </a:pPr>
            <a:r>
              <a:rPr lang="en-US" sz="1150" b="1" dirty="0">
                <a:solidFill>
                  <a:srgbClr val="1A2B3C"/>
                </a:solidFill>
                <a:latin typeface="Arial" pitchFamily="34" charset="0"/>
                <a:ea typeface="Arial" pitchFamily="34" charset="-122"/>
                <a:cs typeface="Arial" pitchFamily="34" charset="-120"/>
              </a:rPr>
              <a:t>1. The 150-person overlap. </a:t>
            </a:r>
            <a:pPr indent="0" marL="0">
              <a:lnSpc>
                <a:spcPct val="120000"/>
              </a:lnSpc>
              <a:buNone/>
            </a:pPr>
            <a:r>
              <a:rPr lang="en-US" sz="1150" dirty="0">
                <a:solidFill>
                  <a:srgbClr val="3A4A5A"/>
                </a:solidFill>
                <a:latin typeface="Arial" pitchFamily="34" charset="0"/>
                <a:ea typeface="Arial" pitchFamily="34" charset="-122"/>
                <a:cs typeface="Arial" pitchFamily="34" charset="-120"/>
              </a:rPr>
              <a:t>How many Monday.com/Trello users already hold Asana. Needs a licence-to-headcount join the brief lacks. Moves the answer.   </a:t>
            </a:r>
            <a:pPr indent="0" marL="0">
              <a:lnSpc>
                <a:spcPct val="120000"/>
              </a:lnSpc>
              <a:buNone/>
            </a:pPr>
            <a:r>
              <a:rPr lang="en-US" sz="1150" b="1" dirty="0">
                <a:solidFill>
                  <a:srgbClr val="1A2B3C"/>
                </a:solidFill>
                <a:latin typeface="Arial" pitchFamily="34" charset="0"/>
                <a:ea typeface="Arial" pitchFamily="34" charset="-122"/>
                <a:cs typeface="Arial" pitchFamily="34" charset="-120"/>
              </a:rPr>
              <a:t>2. Jira. </a:t>
            </a:r>
            <a:pPr indent="0" marL="0">
              <a:lnSpc>
                <a:spcPct val="120000"/>
              </a:lnSpc>
              <a:buNone/>
            </a:pPr>
            <a:r>
              <a:rPr lang="en-US" sz="1150" dirty="0">
                <a:solidFill>
                  <a:srgbClr val="3A4A5A"/>
                </a:solidFill>
                <a:latin typeface="Arial" pitchFamily="34" charset="0"/>
                <a:ea typeface="Arial" pitchFamily="34" charset="-122"/>
                <a:cs typeface="Arial" pitchFamily="34" charset="-120"/>
              </a:rPr>
              <a:t>44% of spend, zero usage data. Base case claims no Jira saving for that reason. First thing I would audit.   </a:t>
            </a:r>
            <a:pPr indent="0" marL="0">
              <a:lnSpc>
                <a:spcPct val="120000"/>
              </a:lnSpc>
              <a:buNone/>
            </a:pPr>
            <a:r>
              <a:rPr lang="en-US" sz="1150" b="1" dirty="0">
                <a:solidFill>
                  <a:srgbClr val="1A2B3C"/>
                </a:solidFill>
                <a:latin typeface="Arial" pitchFamily="34" charset="0"/>
                <a:ea typeface="Arial" pitchFamily="34" charset="-122"/>
                <a:cs typeface="Arial" pitchFamily="34" charset="-120"/>
              </a:rPr>
              <a:t>3. The Asana rate. </a:t>
            </a:r>
            <a:pPr indent="0" marL="0">
              <a:lnSpc>
                <a:spcPct val="120000"/>
              </a:lnSpc>
              <a:buNone/>
            </a:pPr>
            <a:r>
              <a:rPr lang="en-US" sz="1150" dirty="0">
                <a:solidFill>
                  <a:srgbClr val="3A4A5A"/>
                </a:solidFill>
                <a:latin typeface="Arial" pitchFamily="34" charset="0"/>
                <a:ea typeface="Arial" pitchFamily="34" charset="-122"/>
                <a:cs typeface="Arial" pitchFamily="34" charset="-120"/>
              </a:rPr>
              <a:t>Modelled from list price and deal shape, not quoted.</a:t>
            </a:r>
            <a:endParaRPr lang="en-US" sz="1150" dirty="0"/>
          </a:p>
        </p:txBody>
      </p:sp>
      <p:sp>
        <p:nvSpPr>
          <p:cNvPr id="11" name="Text 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BAB"/>
                </a:solidFill>
                <a:latin typeface="Arial" pitchFamily="34" charset="0"/>
                <a:ea typeface="Arial" pitchFamily="34" charset="-122"/>
                <a:cs typeface="Arial" pitchFamily="34" charset="-120"/>
              </a:rPr>
              <a:t>Meridian Mobility  ·  SaaS consolidation</a:t>
            </a:r>
            <a:endParaRPr lang="en-US" sz="900" dirty="0"/>
          </a:p>
        </p:txBody>
      </p:sp>
      <p:sp>
        <p:nvSpPr>
          <p:cNvPr id="12" name="Text 9"/>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A9BA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Shruti Morab</dc:creator>
  <cp:lastModifiedBy>Shruti Morab</cp:lastModifiedBy>
  <cp:revision>1</cp:revision>
  <dcterms:created xsi:type="dcterms:W3CDTF">2026-07-27T18:24:05Z</dcterms:created>
  <dcterms:modified xsi:type="dcterms:W3CDTF">2026-07-27T18:24:05Z</dcterms:modified>
</cp:coreProperties>
</file>